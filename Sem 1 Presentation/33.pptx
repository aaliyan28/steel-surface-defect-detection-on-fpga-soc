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Poppins Bold" charset="1" panose="02000000000000000000"/>
      <p:regular r:id="rId26"/>
    </p:embeddedFont>
    <p:embeddedFont>
      <p:font typeface="Poppins Medium" charset="1" panose="02000000000000000000"/>
      <p:regular r:id="rId27"/>
    </p:embeddedFont>
    <p:embeddedFont>
      <p:font typeface="Poppins Light" charset="1" panose="02000000000000000000"/>
      <p:regular r:id="rId28"/>
    </p:embeddedFont>
    <p:embeddedFont>
      <p:font typeface="Poppins Medium Bold" charset="1" panose="020000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318313"/>
            <a:ext cx="18288000" cy="2968687"/>
            <a:chOff x="0" y="0"/>
            <a:chExt cx="6186311" cy="10042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1004223"/>
            </a:xfrm>
            <a:custGeom>
              <a:avLst/>
              <a:gdLst/>
              <a:ahLst/>
              <a:cxnLst/>
              <a:rect r="r" b="b" t="t" l="l"/>
              <a:pathLst>
                <a:path h="1004223" w="6186311">
                  <a:moveTo>
                    <a:pt x="0" y="0"/>
                  </a:moveTo>
                  <a:lnTo>
                    <a:pt x="6186311" y="0"/>
                  </a:lnTo>
                  <a:lnTo>
                    <a:pt x="6186311" y="1004223"/>
                  </a:lnTo>
                  <a:lnTo>
                    <a:pt x="0" y="1004223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173087" y="-834732"/>
            <a:ext cx="7672269" cy="5978232"/>
          </a:xfrm>
          <a:custGeom>
            <a:avLst/>
            <a:gdLst/>
            <a:ahLst/>
            <a:cxnLst/>
            <a:rect r="r" b="b" t="t" l="l"/>
            <a:pathLst>
              <a:path h="5978232" w="7672269">
                <a:moveTo>
                  <a:pt x="0" y="0"/>
                </a:moveTo>
                <a:lnTo>
                  <a:pt x="7672270" y="0"/>
                </a:lnTo>
                <a:lnTo>
                  <a:pt x="7672270" y="5978232"/>
                </a:lnTo>
                <a:lnTo>
                  <a:pt x="0" y="5978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1173087" y="4144470"/>
            <a:ext cx="8048388" cy="6142530"/>
          </a:xfrm>
          <a:custGeom>
            <a:avLst/>
            <a:gdLst/>
            <a:ahLst/>
            <a:cxnLst/>
            <a:rect r="r" b="b" t="t" l="l"/>
            <a:pathLst>
              <a:path h="6142530" w="8048388">
                <a:moveTo>
                  <a:pt x="8048388" y="0"/>
                </a:moveTo>
                <a:lnTo>
                  <a:pt x="0" y="0"/>
                </a:lnTo>
                <a:lnTo>
                  <a:pt x="0" y="6142530"/>
                </a:lnTo>
                <a:lnTo>
                  <a:pt x="8048388" y="6142530"/>
                </a:lnTo>
                <a:lnTo>
                  <a:pt x="804838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409118"/>
            <a:ext cx="9894590" cy="446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5878" spc="182">
                <a:solidFill>
                  <a:srgbClr val="2D4263"/>
                </a:solidFill>
                <a:latin typeface="Poppins Bold"/>
                <a:ea typeface="Poppins Bold"/>
                <a:cs typeface="Poppins Bold"/>
                <a:sym typeface="Poppins Bold"/>
              </a:rPr>
              <a:t>Machine Vision Pipeline for Steel Surface Defects Detection using FPGA SoC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451590"/>
            <a:ext cx="290353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STUDENT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969750"/>
            <a:ext cx="6082509" cy="3107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1"/>
              </a:lnSpc>
            </a:pPr>
            <a:r>
              <a:rPr lang="en-US" sz="2371">
                <a:solidFill>
                  <a:srgbClr val="191919"/>
                </a:solidFill>
                <a:latin typeface="Poppins Light"/>
                <a:ea typeface="Poppins Light"/>
                <a:cs typeface="Poppins Light"/>
                <a:sym typeface="Poppins Light"/>
              </a:rPr>
              <a:t>Aaliyan Mansoor CS-21146 (3.1)</a:t>
            </a:r>
          </a:p>
          <a:p>
            <a:pPr algn="l">
              <a:lnSpc>
                <a:spcPts val="3581"/>
              </a:lnSpc>
            </a:pPr>
            <a:r>
              <a:rPr lang="en-US" sz="2371">
                <a:solidFill>
                  <a:srgbClr val="191919"/>
                </a:solidFill>
                <a:latin typeface="Poppins Light"/>
                <a:ea typeface="Poppins Light"/>
                <a:cs typeface="Poppins Light"/>
                <a:sym typeface="Poppins Light"/>
              </a:rPr>
              <a:t>Muhammad Babar Ali CS-21145 (2.9)</a:t>
            </a:r>
          </a:p>
          <a:p>
            <a:pPr algn="l">
              <a:lnSpc>
                <a:spcPts val="3581"/>
              </a:lnSpc>
            </a:pPr>
            <a:r>
              <a:rPr lang="en-US" sz="2371">
                <a:solidFill>
                  <a:srgbClr val="191919"/>
                </a:solidFill>
                <a:latin typeface="Poppins Light"/>
                <a:ea typeface="Poppins Light"/>
                <a:cs typeface="Poppins Light"/>
                <a:sym typeface="Poppins Light"/>
              </a:rPr>
              <a:t>Mohib Ud Din CS-21142 (2.7)</a:t>
            </a:r>
          </a:p>
          <a:p>
            <a:pPr algn="l">
              <a:lnSpc>
                <a:spcPts val="3581"/>
              </a:lnSpc>
            </a:pPr>
            <a:r>
              <a:rPr lang="en-US" sz="2371">
                <a:solidFill>
                  <a:srgbClr val="191919"/>
                </a:solidFill>
                <a:latin typeface="Poppins Light"/>
                <a:ea typeface="Poppins Light"/>
                <a:cs typeface="Poppins Light"/>
                <a:sym typeface="Poppins Light"/>
              </a:rPr>
              <a:t>Muhammad Maaz Khan CS-21019 (2.6)</a:t>
            </a:r>
          </a:p>
          <a:p>
            <a:pPr algn="l">
              <a:lnSpc>
                <a:spcPts val="3581"/>
              </a:lnSpc>
            </a:pPr>
          </a:p>
          <a:p>
            <a:pPr algn="l">
              <a:lnSpc>
                <a:spcPts val="3581"/>
              </a:lnSpc>
            </a:pPr>
          </a:p>
          <a:p>
            <a:pPr algn="l">
              <a:lnSpc>
                <a:spcPts val="3581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163266" y="7451590"/>
            <a:ext cx="290353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SUPERVISOR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63266" y="7988800"/>
            <a:ext cx="290353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91919"/>
                </a:solidFill>
                <a:latin typeface="Poppins Light"/>
                <a:ea typeface="Poppins Light"/>
                <a:cs typeface="Poppins Light"/>
                <a:sym typeface="Poppins Light"/>
              </a:rPr>
              <a:t>Ms. Fakhra Aftab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23950" y="622935"/>
            <a:ext cx="290353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Tuesday, 17/12/24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3069" y="1144905"/>
            <a:ext cx="7040197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91919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Computer &amp; Information Systems Engineering , NED University of Engineering and Technology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63266" y="8527915"/>
            <a:ext cx="290353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CO-SUPERVISOR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63266" y="9031605"/>
            <a:ext cx="290353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91919"/>
                </a:solidFill>
                <a:latin typeface="Poppins Light"/>
                <a:ea typeface="Poppins Light"/>
                <a:cs typeface="Poppins Light"/>
                <a:sym typeface="Poppins Light"/>
              </a:rPr>
              <a:t>Dr. Majida Kazmi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847771"/>
            <a:chOff x="0" y="0"/>
            <a:chExt cx="6186311" cy="2867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286777"/>
            </a:xfrm>
            <a:custGeom>
              <a:avLst/>
              <a:gdLst/>
              <a:ahLst/>
              <a:cxnLst/>
              <a:rect r="r" b="b" t="t" l="l"/>
              <a:pathLst>
                <a:path h="286777" w="6186311">
                  <a:moveTo>
                    <a:pt x="0" y="0"/>
                  </a:moveTo>
                  <a:lnTo>
                    <a:pt x="6186311" y="0"/>
                  </a:lnTo>
                  <a:lnTo>
                    <a:pt x="6186311" y="286777"/>
                  </a:lnTo>
                  <a:lnTo>
                    <a:pt x="0" y="286777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847771" cy="847771"/>
            <a:chOff x="0" y="0"/>
            <a:chExt cx="1913890" cy="1913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C84B31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23950" y="242910"/>
            <a:ext cx="105927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74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Table of Contents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16303" y="2448793"/>
            <a:ext cx="848178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Introduction &amp; Background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16303" y="3284520"/>
            <a:ext cx="848178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Task Division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16303" y="4960920"/>
            <a:ext cx="848178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Literature Review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16303" y="8313720"/>
            <a:ext cx="848178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Conclusion &amp; Future Plan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23950" y="2448793"/>
            <a:ext cx="68230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>
                <a:solidFill>
                  <a:srgbClr val="C84B3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3950" y="3284520"/>
            <a:ext cx="68230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>
                <a:solidFill>
                  <a:srgbClr val="C84B3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3950" y="4122720"/>
            <a:ext cx="68230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>
                <a:solidFill>
                  <a:srgbClr val="C84B3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III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3950" y="4960920"/>
            <a:ext cx="68230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>
                <a:solidFill>
                  <a:srgbClr val="C84B3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IV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23950" y="6637320"/>
            <a:ext cx="68230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>
                <a:solidFill>
                  <a:srgbClr val="C84B3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166354" y="2448793"/>
            <a:ext cx="68230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0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166354" y="3284520"/>
            <a:ext cx="68230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0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400828" y="4122720"/>
            <a:ext cx="213360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0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7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166354" y="4960920"/>
            <a:ext cx="68230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0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9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166354" y="5799120"/>
            <a:ext cx="68230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0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755715" y="1459004"/>
            <a:ext cx="150358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0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Page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416303" y="4122720"/>
            <a:ext cx="848178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Milestones Achieved Summary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23950" y="5799120"/>
            <a:ext cx="68230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>
                <a:solidFill>
                  <a:srgbClr val="C84B3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16303" y="5799120"/>
            <a:ext cx="848178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Data Preprocessing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435353" y="6637320"/>
            <a:ext cx="848178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Model Training &amp; Optimization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16303" y="7475520"/>
            <a:ext cx="848178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>
                <a:solidFill>
                  <a:srgbClr val="2D4263"/>
                </a:solidFill>
                <a:latin typeface="Poppins Light"/>
                <a:ea typeface="Poppins Light"/>
                <a:cs typeface="Poppins Light"/>
                <a:sym typeface="Poppins Light"/>
              </a:rPr>
              <a:t>FPGA Deployment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23950" y="7475520"/>
            <a:ext cx="68230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>
                <a:solidFill>
                  <a:srgbClr val="C84B3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VII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23950" y="8313720"/>
            <a:ext cx="68230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000">
                <a:solidFill>
                  <a:srgbClr val="C84B3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VIII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166354" y="6637320"/>
            <a:ext cx="68230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0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166354" y="7475520"/>
            <a:ext cx="68230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0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17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319865" y="8313720"/>
            <a:ext cx="37528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0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19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847771"/>
            <a:chOff x="0" y="0"/>
            <a:chExt cx="6186311" cy="2867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286777"/>
            </a:xfrm>
            <a:custGeom>
              <a:avLst/>
              <a:gdLst/>
              <a:ahLst/>
              <a:cxnLst/>
              <a:rect r="r" b="b" t="t" l="l"/>
              <a:pathLst>
                <a:path h="286777" w="6186311">
                  <a:moveTo>
                    <a:pt x="0" y="0"/>
                  </a:moveTo>
                  <a:lnTo>
                    <a:pt x="6186311" y="0"/>
                  </a:lnTo>
                  <a:lnTo>
                    <a:pt x="6186311" y="286777"/>
                  </a:lnTo>
                  <a:lnTo>
                    <a:pt x="0" y="286777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847771" cy="847771"/>
            <a:chOff x="0" y="0"/>
            <a:chExt cx="1913890" cy="1913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C84B31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23950" y="242910"/>
            <a:ext cx="105927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74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Introduction and Background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759" y="242910"/>
            <a:ext cx="53825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>
                <a:solidFill>
                  <a:srgbClr val="EEEEE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3885" y="2246520"/>
            <a:ext cx="8431817" cy="8117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1"/>
              </a:lnSpc>
            </a:pPr>
          </a:p>
          <a:p>
            <a:pPr algn="l" marL="588568" indent="-294284" lvl="1">
              <a:lnSpc>
                <a:spcPts val="4361"/>
              </a:lnSpc>
              <a:buFont typeface="Arial"/>
              <a:buChar char="•"/>
            </a:pPr>
            <a:r>
              <a:rPr lang="en-US" b="true" sz="2726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Steel Surface Defects</a:t>
            </a:r>
            <a:r>
              <a:rPr lang="en-US" sz="2726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: Critical for industries (automotive, aerospace, manufacturing).</a:t>
            </a:r>
          </a:p>
          <a:p>
            <a:pPr algn="l" marL="588568" indent="-294284" lvl="1">
              <a:lnSpc>
                <a:spcPts val="4361"/>
              </a:lnSpc>
              <a:buFont typeface="Arial"/>
              <a:buChar char="•"/>
            </a:pPr>
            <a:r>
              <a:rPr lang="en-US" b="true" sz="2726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Types of Defects:</a:t>
            </a:r>
            <a:r>
              <a:rPr lang="en-US" sz="2726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Cracks, inclusions, scratches, pitted surfaces.</a:t>
            </a:r>
          </a:p>
          <a:p>
            <a:pPr algn="l" marL="588568" indent="-294284" lvl="1">
              <a:lnSpc>
                <a:spcPts val="4361"/>
              </a:lnSpc>
              <a:buFont typeface="Arial"/>
              <a:buChar char="•"/>
            </a:pPr>
            <a:r>
              <a:rPr lang="en-US" b="true" sz="2726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Challenges:</a:t>
            </a:r>
          </a:p>
          <a:p>
            <a:pPr algn="l" marL="588568" indent="-294284" lvl="1">
              <a:lnSpc>
                <a:spcPts val="4361"/>
              </a:lnSpc>
              <a:buFont typeface="Arial"/>
              <a:buChar char="•"/>
            </a:pPr>
            <a:r>
              <a:rPr lang="en-US" sz="2726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Traditional methods: slow, manual, low precision.</a:t>
            </a:r>
          </a:p>
          <a:p>
            <a:pPr algn="l" marL="588568" indent="-294284" lvl="1">
              <a:lnSpc>
                <a:spcPts val="4361"/>
              </a:lnSpc>
              <a:buFont typeface="Arial"/>
              <a:buChar char="•"/>
            </a:pPr>
            <a:r>
              <a:rPr lang="en-US" sz="2726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GPUs/CPUs: High energy usage, slower processing.</a:t>
            </a:r>
          </a:p>
          <a:p>
            <a:pPr algn="l" marL="588568" indent="-294284" lvl="1">
              <a:lnSpc>
                <a:spcPts val="4361"/>
              </a:lnSpc>
              <a:buFont typeface="Arial"/>
              <a:buChar char="•"/>
            </a:pPr>
            <a:r>
              <a:rPr lang="en-US" b="true" sz="2726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Solution:</a:t>
            </a:r>
            <a:r>
              <a:rPr lang="en-US" sz="2726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FPGA-based Machine Vision Pipeline</a:t>
            </a:r>
          </a:p>
          <a:p>
            <a:pPr algn="l" marL="588568" indent="-294284" lvl="1">
              <a:lnSpc>
                <a:spcPts val="4361"/>
              </a:lnSpc>
              <a:buFont typeface="Arial"/>
              <a:buChar char="•"/>
            </a:pPr>
            <a:r>
              <a:rPr lang="en-US" sz="2726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High accuracy, energy efficiency</a:t>
            </a:r>
          </a:p>
          <a:p>
            <a:pPr algn="l">
              <a:lnSpc>
                <a:spcPts val="3881"/>
              </a:lnSpc>
            </a:pPr>
          </a:p>
          <a:p>
            <a:pPr algn="l">
              <a:lnSpc>
                <a:spcPts val="3881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6918147" y="9134475"/>
            <a:ext cx="68230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3012" y="1028700"/>
            <a:ext cx="5727316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1"/>
              </a:lnSpc>
            </a:pPr>
            <a:r>
              <a:rPr lang="en-US" sz="5759" spc="178">
                <a:solidFill>
                  <a:srgbClr val="2D4263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37108" y="1028528"/>
            <a:ext cx="7081039" cy="175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5"/>
              </a:lnSpc>
            </a:pPr>
            <a:r>
              <a:rPr lang="en-US" sz="5763" spc="178">
                <a:solidFill>
                  <a:srgbClr val="2D4263"/>
                </a:solidFill>
                <a:latin typeface="Poppins Bold"/>
                <a:ea typeface="Poppins Bold"/>
                <a:cs typeface="Poppins Bold"/>
                <a:sym typeface="Poppins Bold"/>
              </a:rPr>
              <a:t>Significance and Motivation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03357" y="2867370"/>
            <a:ext cx="8431817" cy="5481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8568" indent="-294284" lvl="1">
              <a:lnSpc>
                <a:spcPts val="4361"/>
              </a:lnSpc>
              <a:buFont typeface="Arial"/>
              <a:buChar char="•"/>
            </a:pPr>
            <a:r>
              <a:rPr lang="en-US" sz="2726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Combines Deep Learning with FPGA Efficiency.</a:t>
            </a:r>
          </a:p>
          <a:p>
            <a:pPr algn="l" marL="588568" indent="-294284" lvl="1">
              <a:lnSpc>
                <a:spcPts val="4361"/>
              </a:lnSpc>
              <a:buFont typeface="Arial"/>
              <a:buChar char="•"/>
            </a:pPr>
            <a:r>
              <a:rPr lang="en-US" b="true" sz="2726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Solves trade-offs:</a:t>
            </a:r>
          </a:p>
          <a:p>
            <a:pPr algn="l" marL="588568" indent="-294284" lvl="1">
              <a:lnSpc>
                <a:spcPts val="4361"/>
              </a:lnSpc>
              <a:buFont typeface="Arial"/>
              <a:buChar char="•"/>
            </a:pPr>
            <a:r>
              <a:rPr lang="en-US" sz="2726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Speed, Accuracy, Energy Efficiency.</a:t>
            </a:r>
          </a:p>
          <a:p>
            <a:pPr algn="l" marL="588568" indent="-294284" lvl="1">
              <a:lnSpc>
                <a:spcPts val="4361"/>
              </a:lnSpc>
              <a:buFont typeface="Arial"/>
              <a:buChar char="•"/>
            </a:pPr>
            <a:r>
              <a:rPr lang="en-US" b="true" sz="2726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Aligns with Smart Manufacturing goals:</a:t>
            </a:r>
          </a:p>
          <a:p>
            <a:pPr algn="l" marL="588568" indent="-294284" lvl="1">
              <a:lnSpc>
                <a:spcPts val="4361"/>
              </a:lnSpc>
              <a:buFont typeface="Arial"/>
              <a:buChar char="•"/>
            </a:pPr>
            <a:r>
              <a:rPr lang="en-US" sz="2726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Automation, energy efficiency, and quality assurance.</a:t>
            </a:r>
          </a:p>
          <a:p>
            <a:pPr algn="l" marL="588568" indent="-294284" lvl="1">
              <a:lnSpc>
                <a:spcPts val="4361"/>
              </a:lnSpc>
              <a:buFont typeface="Arial"/>
              <a:buChar char="•"/>
            </a:pPr>
            <a:r>
              <a:rPr lang="en-US" sz="2726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Sets a benchmark for AI solutions in resource-constrained environments.</a:t>
            </a:r>
          </a:p>
          <a:p>
            <a:pPr algn="l">
              <a:lnSpc>
                <a:spcPts val="4361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847771"/>
            <a:chOff x="0" y="0"/>
            <a:chExt cx="6186311" cy="2867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286777"/>
            </a:xfrm>
            <a:custGeom>
              <a:avLst/>
              <a:gdLst/>
              <a:ahLst/>
              <a:cxnLst/>
              <a:rect r="r" b="b" t="t" l="l"/>
              <a:pathLst>
                <a:path h="286777" w="6186311">
                  <a:moveTo>
                    <a:pt x="0" y="0"/>
                  </a:moveTo>
                  <a:lnTo>
                    <a:pt x="6186311" y="0"/>
                  </a:lnTo>
                  <a:lnTo>
                    <a:pt x="6186311" y="286777"/>
                  </a:lnTo>
                  <a:lnTo>
                    <a:pt x="0" y="286777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847771" cy="847771"/>
            <a:chOff x="0" y="0"/>
            <a:chExt cx="1913890" cy="1913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C84B31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23950" y="242910"/>
            <a:ext cx="105927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74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Introduction and Background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759" y="242910"/>
            <a:ext cx="53825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>
                <a:solidFill>
                  <a:srgbClr val="EEEEE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3885" y="2686395"/>
            <a:ext cx="8431817" cy="7691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1"/>
              </a:lnSpc>
            </a:pPr>
            <a:r>
              <a:rPr lang="en-US" sz="2726" b="true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Aim: S</a:t>
            </a:r>
            <a:r>
              <a:rPr lang="en-US" sz="2726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teel surface defect detection using FPGA SoC.</a:t>
            </a:r>
          </a:p>
          <a:p>
            <a:pPr algn="l">
              <a:lnSpc>
                <a:spcPts val="4361"/>
              </a:lnSpc>
            </a:pPr>
            <a:r>
              <a:rPr lang="en-US" sz="2726" b="true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Objectives:</a:t>
            </a:r>
          </a:p>
          <a:p>
            <a:pPr algn="l" marL="588568" indent="-294284" lvl="1">
              <a:lnSpc>
                <a:spcPts val="4361"/>
              </a:lnSpc>
              <a:buFont typeface="Arial"/>
              <a:buChar char="•"/>
            </a:pPr>
            <a:r>
              <a:rPr lang="en-US" sz="2726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Develop a robust deep learning model for defect detection.</a:t>
            </a:r>
          </a:p>
          <a:p>
            <a:pPr algn="l" marL="588568" indent="-294284" lvl="1">
              <a:lnSpc>
                <a:spcPts val="4361"/>
              </a:lnSpc>
              <a:buFont typeface="Arial"/>
              <a:buChar char="•"/>
            </a:pPr>
            <a:r>
              <a:rPr lang="en-US" sz="2726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Preprocess and optimize datasets.</a:t>
            </a:r>
          </a:p>
          <a:p>
            <a:pPr algn="l" marL="588568" indent="-294284" lvl="1">
              <a:lnSpc>
                <a:spcPts val="4361"/>
              </a:lnSpc>
              <a:buFont typeface="Arial"/>
              <a:buChar char="•"/>
            </a:pPr>
            <a:r>
              <a:rPr lang="en-US" sz="2726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Deploy the model on FPGA for high-speed, low-power inference.</a:t>
            </a:r>
          </a:p>
          <a:p>
            <a:pPr algn="l" marL="588568" indent="-294284" lvl="1">
              <a:lnSpc>
                <a:spcPts val="4361"/>
              </a:lnSpc>
              <a:buFont typeface="Arial"/>
              <a:buChar char="•"/>
            </a:pPr>
            <a:r>
              <a:rPr lang="en-US" b="true" sz="2726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Evaluate metrics:</a:t>
            </a:r>
          </a:p>
          <a:p>
            <a:pPr algn="l" marL="1177136" indent="-392379" lvl="2">
              <a:lnSpc>
                <a:spcPts val="4361"/>
              </a:lnSpc>
              <a:buFont typeface="Arial"/>
              <a:buChar char="⚬"/>
            </a:pPr>
            <a:r>
              <a:rPr lang="en-US" sz="2726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Accuracy, Latency, and Energy Efficiency.</a:t>
            </a:r>
          </a:p>
          <a:p>
            <a:pPr algn="l" marL="588568" indent="-294284" lvl="1">
              <a:lnSpc>
                <a:spcPts val="4361"/>
              </a:lnSpc>
              <a:buFont typeface="Arial"/>
              <a:buChar char="•"/>
            </a:pPr>
            <a:r>
              <a:rPr lang="en-US" sz="2726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Benchmark against CPU and GPU-based systems.</a:t>
            </a:r>
          </a:p>
          <a:p>
            <a:pPr algn="l" marL="588568" indent="-294284" lvl="1">
              <a:lnSpc>
                <a:spcPts val="4361"/>
              </a:lnSpc>
              <a:buFont typeface="Arial"/>
              <a:buChar char="•"/>
            </a:pPr>
            <a:r>
              <a:rPr lang="en-US" sz="2726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Ensure scalability for industrial adoption.</a:t>
            </a:r>
          </a:p>
          <a:p>
            <a:pPr algn="l">
              <a:lnSpc>
                <a:spcPts val="4361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6918147" y="9134475"/>
            <a:ext cx="68230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3885" y="1011203"/>
            <a:ext cx="8672855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1"/>
              </a:lnSpc>
            </a:pPr>
            <a:r>
              <a:rPr lang="en-US" sz="5759" spc="178">
                <a:solidFill>
                  <a:srgbClr val="2D4263"/>
                </a:solidFill>
                <a:latin typeface="Poppins Bold"/>
                <a:ea typeface="Poppins Bold"/>
                <a:cs typeface="Poppins Bold"/>
                <a:sym typeface="Poppins Bold"/>
              </a:rPr>
              <a:t>Aims and Objectives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37108" y="1028700"/>
            <a:ext cx="7081039" cy="876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15"/>
              </a:lnSpc>
            </a:pPr>
            <a:r>
              <a:rPr lang="en-US" sz="5763" spc="178">
                <a:solidFill>
                  <a:srgbClr val="2D4263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07568" y="2595937"/>
            <a:ext cx="8431817" cy="3271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8568" indent="-294284" lvl="1">
              <a:lnSpc>
                <a:spcPts val="4361"/>
              </a:lnSpc>
              <a:buFont typeface="Arial"/>
              <a:buChar char="•"/>
            </a:pPr>
            <a:r>
              <a:rPr lang="en-US" b="true" sz="2726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Dataset Preparation</a:t>
            </a:r>
          </a:p>
          <a:p>
            <a:pPr algn="l" marL="588568" indent="-294284" lvl="1">
              <a:lnSpc>
                <a:spcPts val="4361"/>
              </a:lnSpc>
              <a:buFont typeface="Arial"/>
              <a:buChar char="•"/>
            </a:pPr>
            <a:r>
              <a:rPr lang="en-US" b="true" sz="2726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Model Selection and Training</a:t>
            </a:r>
          </a:p>
          <a:p>
            <a:pPr algn="l" marL="588568" indent="-294284" lvl="1">
              <a:lnSpc>
                <a:spcPts val="4361"/>
              </a:lnSpc>
              <a:buFont typeface="Arial"/>
              <a:buChar char="•"/>
            </a:pPr>
            <a:r>
              <a:rPr lang="en-US" b="true" sz="2726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FPGA Deployment</a:t>
            </a:r>
          </a:p>
          <a:p>
            <a:pPr algn="l" marL="588568" indent="-294284" lvl="1">
              <a:lnSpc>
                <a:spcPts val="4361"/>
              </a:lnSpc>
              <a:buFont typeface="Arial"/>
              <a:buChar char="•"/>
            </a:pPr>
            <a:r>
              <a:rPr lang="en-US" b="true" sz="2726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Performance Evaluation</a:t>
            </a:r>
          </a:p>
          <a:p>
            <a:pPr algn="l" marL="588568" indent="-294284" lvl="1">
              <a:lnSpc>
                <a:spcPts val="4361"/>
              </a:lnSpc>
              <a:buFont typeface="Arial"/>
              <a:buChar char="•"/>
            </a:pPr>
            <a:r>
              <a:rPr lang="en-US" b="true" sz="2726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Comparative Analysis</a:t>
            </a:r>
          </a:p>
          <a:p>
            <a:pPr algn="l">
              <a:lnSpc>
                <a:spcPts val="4361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847771"/>
            <a:chOff x="0" y="0"/>
            <a:chExt cx="6186311" cy="2867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286777"/>
            </a:xfrm>
            <a:custGeom>
              <a:avLst/>
              <a:gdLst/>
              <a:ahLst/>
              <a:cxnLst/>
              <a:rect r="r" b="b" t="t" l="l"/>
              <a:pathLst>
                <a:path h="286777" w="6186311">
                  <a:moveTo>
                    <a:pt x="0" y="0"/>
                  </a:moveTo>
                  <a:lnTo>
                    <a:pt x="6186311" y="0"/>
                  </a:lnTo>
                  <a:lnTo>
                    <a:pt x="6186311" y="286777"/>
                  </a:lnTo>
                  <a:lnTo>
                    <a:pt x="0" y="286777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847771" cy="847771"/>
            <a:chOff x="0" y="0"/>
            <a:chExt cx="1913890" cy="1913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C84B31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46777" y="5640353"/>
            <a:ext cx="16994445" cy="2805658"/>
          </a:xfrm>
          <a:custGeom>
            <a:avLst/>
            <a:gdLst/>
            <a:ahLst/>
            <a:cxnLst/>
            <a:rect r="r" b="b" t="t" l="l"/>
            <a:pathLst>
              <a:path h="2805658" w="16994445">
                <a:moveTo>
                  <a:pt x="0" y="0"/>
                </a:moveTo>
                <a:lnTo>
                  <a:pt x="16994446" y="0"/>
                </a:lnTo>
                <a:lnTo>
                  <a:pt x="16994446" y="2805658"/>
                </a:lnTo>
                <a:lnTo>
                  <a:pt x="0" y="28056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613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23950" y="242910"/>
            <a:ext cx="105927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74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Introduction and Background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759" y="242910"/>
            <a:ext cx="53825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>
                <a:solidFill>
                  <a:srgbClr val="EEEEE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01648" y="2409825"/>
            <a:ext cx="9463441" cy="3049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5"/>
              </a:lnSpc>
            </a:pPr>
            <a:r>
              <a:rPr lang="en-US" sz="3059" b="true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Visual Flowchart:</a:t>
            </a:r>
          </a:p>
          <a:p>
            <a:pPr algn="l">
              <a:lnSpc>
                <a:spcPts val="4895"/>
              </a:lnSpc>
            </a:pPr>
            <a:r>
              <a:rPr lang="en-US" sz="3059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Machine Vision Pipeline for Steel Surface Defect Detection.</a:t>
            </a:r>
          </a:p>
          <a:p>
            <a:pPr algn="l">
              <a:lnSpc>
                <a:spcPts val="4895"/>
              </a:lnSpc>
            </a:pPr>
          </a:p>
          <a:p>
            <a:pPr algn="l">
              <a:lnSpc>
                <a:spcPts val="489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6918147" y="9134475"/>
            <a:ext cx="68230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01648" y="1028700"/>
            <a:ext cx="12756442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71"/>
              </a:lnSpc>
            </a:pPr>
            <a:r>
              <a:rPr lang="en-US" sz="7059" spc="218">
                <a:solidFill>
                  <a:srgbClr val="2D4263"/>
                </a:solidFill>
                <a:latin typeface="Poppins Bold"/>
                <a:ea typeface="Poppins Bold"/>
                <a:cs typeface="Poppins Bold"/>
                <a:sym typeface="Poppins Bold"/>
              </a:rPr>
              <a:t>Machine Vision Pipeline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847771"/>
            <a:chOff x="0" y="0"/>
            <a:chExt cx="6186311" cy="2867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286777"/>
            </a:xfrm>
            <a:custGeom>
              <a:avLst/>
              <a:gdLst/>
              <a:ahLst/>
              <a:cxnLst/>
              <a:rect r="r" b="b" t="t" l="l"/>
              <a:pathLst>
                <a:path h="286777" w="6186311">
                  <a:moveTo>
                    <a:pt x="0" y="0"/>
                  </a:moveTo>
                  <a:lnTo>
                    <a:pt x="6186311" y="0"/>
                  </a:lnTo>
                  <a:lnTo>
                    <a:pt x="6186311" y="286777"/>
                  </a:lnTo>
                  <a:lnTo>
                    <a:pt x="0" y="286777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847771" cy="847771"/>
            <a:chOff x="0" y="0"/>
            <a:chExt cx="1913890" cy="1913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C84B31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440622" y="3766165"/>
            <a:ext cx="6818678" cy="5492135"/>
          </a:xfrm>
          <a:custGeom>
            <a:avLst/>
            <a:gdLst/>
            <a:ahLst/>
            <a:cxnLst/>
            <a:rect r="r" b="b" t="t" l="l"/>
            <a:pathLst>
              <a:path h="5492135" w="6818678">
                <a:moveTo>
                  <a:pt x="0" y="0"/>
                </a:moveTo>
                <a:lnTo>
                  <a:pt x="6818678" y="0"/>
                </a:lnTo>
                <a:lnTo>
                  <a:pt x="6818678" y="5492135"/>
                </a:lnTo>
                <a:lnTo>
                  <a:pt x="0" y="5492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23950" y="242910"/>
            <a:ext cx="105927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74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Task Division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759" y="242910"/>
            <a:ext cx="53825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>
                <a:solidFill>
                  <a:srgbClr val="EEEEE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2467" y="992054"/>
            <a:ext cx="5501182" cy="1120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08"/>
              </a:lnSpc>
            </a:pPr>
            <a:r>
              <a:rPr lang="en-US" sz="5880">
                <a:solidFill>
                  <a:srgbClr val="2D4263"/>
                </a:solidFill>
                <a:latin typeface="Poppins Bold"/>
                <a:ea typeface="Poppins Bold"/>
                <a:cs typeface="Poppins Bold"/>
                <a:sym typeface="Poppins Bold"/>
              </a:rPr>
              <a:t>Task Division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918147" y="9134475"/>
            <a:ext cx="68230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758003"/>
            <a:ext cx="9049524" cy="8833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2"/>
              </a:lnSpc>
            </a:pPr>
          </a:p>
          <a:p>
            <a:pPr algn="l" marL="591314" indent="-295657" lvl="1">
              <a:lnSpc>
                <a:spcPts val="4382"/>
              </a:lnSpc>
              <a:buFont typeface="Arial"/>
              <a:buChar char="•"/>
            </a:pPr>
            <a:r>
              <a:rPr lang="en-US" b="true" sz="2738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Aaliyan Mansoor: P</a:t>
            </a:r>
            <a:r>
              <a:rPr lang="en-US" sz="2738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erformed model inspection and quantization, data preprocessing (AgriAutos dataset)</a:t>
            </a:r>
          </a:p>
          <a:p>
            <a:pPr algn="l" marL="591314" indent="-295657" lvl="1">
              <a:lnSpc>
                <a:spcPts val="4382"/>
              </a:lnSpc>
              <a:buFont typeface="Arial"/>
              <a:buChar char="•"/>
            </a:pPr>
            <a:r>
              <a:rPr lang="en-US" b="true" sz="2738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Muhammad Babar Ali: </a:t>
            </a:r>
            <a:r>
              <a:rPr lang="en-US" sz="2738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Performed model inspection and quantization, model training and optimization</a:t>
            </a:r>
          </a:p>
          <a:p>
            <a:pPr algn="l" marL="591314" indent="-295657" lvl="1">
              <a:lnSpc>
                <a:spcPts val="4382"/>
              </a:lnSpc>
              <a:buFont typeface="Arial"/>
              <a:buChar char="•"/>
            </a:pPr>
            <a:r>
              <a:rPr lang="en-US" b="true" sz="2738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Mohib Ud Din: </a:t>
            </a:r>
            <a:r>
              <a:rPr lang="en-US" sz="2738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Performed data preprocessing (NEUDET+GC10DET), model training and optimization</a:t>
            </a:r>
          </a:p>
          <a:p>
            <a:pPr algn="l" marL="591314" indent="-295657" lvl="1">
              <a:lnSpc>
                <a:spcPts val="4382"/>
              </a:lnSpc>
              <a:buFont typeface="Arial"/>
              <a:buChar char="•"/>
            </a:pPr>
            <a:r>
              <a:rPr lang="en-US" b="true" sz="2738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Muhammad Maaz Khan:</a:t>
            </a:r>
            <a:r>
              <a:rPr lang="en-US" sz="2738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Performed data preprocessing (NEUDET), model inspection and quantization</a:t>
            </a:r>
          </a:p>
          <a:p>
            <a:pPr algn="l">
              <a:lnSpc>
                <a:spcPts val="4382"/>
              </a:lnSpc>
            </a:pPr>
            <a:r>
              <a:rPr lang="en-US" sz="2738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Literature review and report writing was done collectively by all members.</a:t>
            </a:r>
          </a:p>
          <a:p>
            <a:pPr algn="l">
              <a:lnSpc>
                <a:spcPts val="4382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847771"/>
            <a:chOff x="0" y="0"/>
            <a:chExt cx="6186311" cy="2867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286777"/>
            </a:xfrm>
            <a:custGeom>
              <a:avLst/>
              <a:gdLst/>
              <a:ahLst/>
              <a:cxnLst/>
              <a:rect r="r" b="b" t="t" l="l"/>
              <a:pathLst>
                <a:path h="286777" w="6186311">
                  <a:moveTo>
                    <a:pt x="0" y="0"/>
                  </a:moveTo>
                  <a:lnTo>
                    <a:pt x="6186311" y="0"/>
                  </a:lnTo>
                  <a:lnTo>
                    <a:pt x="6186311" y="286777"/>
                  </a:lnTo>
                  <a:lnTo>
                    <a:pt x="0" y="286777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847771" cy="847771"/>
            <a:chOff x="0" y="0"/>
            <a:chExt cx="1913890" cy="1913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C84B31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23950" y="242910"/>
            <a:ext cx="105927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74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Milestones Achieved Summary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759" y="242910"/>
            <a:ext cx="53825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>
                <a:solidFill>
                  <a:srgbClr val="EEEEE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759" y="1097148"/>
            <a:ext cx="8526042" cy="721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6" indent="-410208" lvl="1">
              <a:lnSpc>
                <a:spcPts val="6079"/>
              </a:lnSpc>
              <a:buAutoNum type="arabicPeriod" startAt="1"/>
            </a:pPr>
            <a:r>
              <a:rPr lang="en-US" sz="3799">
                <a:solidFill>
                  <a:srgbClr val="2D4263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Preparation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918147" y="9134475"/>
            <a:ext cx="68230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3885" y="1869937"/>
            <a:ext cx="8127459" cy="3698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323" indent="-283662" lvl="1">
              <a:lnSpc>
                <a:spcPts val="4204"/>
              </a:lnSpc>
              <a:buFont typeface="Arial"/>
              <a:buChar char="•"/>
            </a:pPr>
            <a:r>
              <a:rPr lang="en-US" b="true" sz="2627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Datasets Used:</a:t>
            </a:r>
          </a:p>
          <a:p>
            <a:pPr algn="l" marL="567323" indent="-283662" lvl="1">
              <a:lnSpc>
                <a:spcPts val="4204"/>
              </a:lnSpc>
              <a:buFont typeface="Arial"/>
              <a:buChar char="•"/>
            </a:pPr>
            <a:r>
              <a:rPr lang="en-US" sz="26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NEU-DET, GC10-DET (Public Datasets)</a:t>
            </a:r>
          </a:p>
          <a:p>
            <a:pPr algn="l" marL="567323" indent="-283662" lvl="1">
              <a:lnSpc>
                <a:spcPts val="4204"/>
              </a:lnSpc>
              <a:buFont typeface="Arial"/>
              <a:buChar char="•"/>
            </a:pPr>
            <a:r>
              <a:rPr lang="en-US" sz="26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Agriauto Industry-Specific Dataset</a:t>
            </a:r>
          </a:p>
          <a:p>
            <a:pPr algn="l" marL="567323" indent="-283662" lvl="1">
              <a:lnSpc>
                <a:spcPts val="4204"/>
              </a:lnSpc>
              <a:buFont typeface="Arial"/>
              <a:buChar char="•"/>
            </a:pPr>
            <a:r>
              <a:rPr lang="en-US" b="true" sz="2627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Key Tasks:</a:t>
            </a:r>
          </a:p>
          <a:p>
            <a:pPr algn="l" marL="567323" indent="-283662" lvl="1">
              <a:lnSpc>
                <a:spcPts val="4204"/>
              </a:lnSpc>
              <a:buFont typeface="Arial"/>
              <a:buChar char="•"/>
            </a:pPr>
            <a:r>
              <a:rPr lang="en-US" sz="26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 inspection, annotation, augmentation (Roboflow).</a:t>
            </a:r>
          </a:p>
          <a:p>
            <a:pPr algn="l">
              <a:lnSpc>
                <a:spcPts val="42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23885" y="5136666"/>
            <a:ext cx="8526042" cy="721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9"/>
              </a:lnSpc>
            </a:pPr>
            <a:r>
              <a:rPr lang="en-US" sz="3799">
                <a:solidFill>
                  <a:srgbClr val="2D4263"/>
                </a:solidFill>
                <a:latin typeface="Poppins Bold"/>
                <a:ea typeface="Poppins Bold"/>
                <a:cs typeface="Poppins Bold"/>
                <a:sym typeface="Poppins Bold"/>
              </a:rPr>
              <a:t> 2.Model Selection and Training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3885" y="5905652"/>
            <a:ext cx="8127459" cy="370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324" indent="-283662" lvl="1">
              <a:lnSpc>
                <a:spcPts val="4204"/>
              </a:lnSpc>
              <a:buFont typeface="Arial"/>
              <a:buChar char="•"/>
            </a:pPr>
            <a:r>
              <a:rPr lang="en-US" sz="26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Compared YOLOv3 and YOLOv5 for speed, accuracy, and resource utilization.</a:t>
            </a:r>
          </a:p>
          <a:p>
            <a:pPr algn="l" marL="567324" indent="-283662" lvl="1">
              <a:lnSpc>
                <a:spcPts val="4204"/>
              </a:lnSpc>
              <a:buFont typeface="Arial"/>
              <a:buChar char="•"/>
            </a:pPr>
            <a:r>
              <a:rPr lang="en-US" b="true" sz="2627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Selected Model: </a:t>
            </a:r>
            <a:r>
              <a:rPr lang="en-US" sz="26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YOLOv5n (lightweight, fast, accurate).</a:t>
            </a:r>
          </a:p>
          <a:p>
            <a:pPr algn="l" marL="567324" indent="-283662" lvl="1">
              <a:lnSpc>
                <a:spcPts val="4204"/>
              </a:lnSpc>
              <a:buFont typeface="Arial"/>
              <a:buChar char="•"/>
            </a:pPr>
            <a:r>
              <a:rPr lang="en-US" b="true" sz="2627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Optimization: </a:t>
            </a:r>
            <a:r>
              <a:rPr lang="en-US" sz="26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Hyperparameter tuning, iterative training.</a:t>
            </a:r>
          </a:p>
          <a:p>
            <a:pPr algn="l">
              <a:lnSpc>
                <a:spcPts val="420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761958" y="1097148"/>
            <a:ext cx="8526042" cy="721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9"/>
              </a:lnSpc>
            </a:pPr>
            <a:r>
              <a:rPr lang="en-US" sz="3799">
                <a:solidFill>
                  <a:srgbClr val="2D4263"/>
                </a:solidFill>
                <a:latin typeface="Poppins Bold"/>
                <a:ea typeface="Poppins Bold"/>
                <a:cs typeface="Poppins Bold"/>
                <a:sym typeface="Poppins Bold"/>
              </a:rPr>
              <a:t>3.Model Deployment on FPGA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72994" y="1869937"/>
            <a:ext cx="8127459" cy="3171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324" indent="-283662" lvl="1">
              <a:lnSpc>
                <a:spcPts val="4204"/>
              </a:lnSpc>
              <a:buFont typeface="Arial"/>
              <a:buChar char="•"/>
            </a:pPr>
            <a:r>
              <a:rPr lang="en-US" b="true" sz="2627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FPGA Board:</a:t>
            </a:r>
            <a:r>
              <a:rPr lang="en-US" sz="26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Avnet Ultra96-V2 (Zynq UltraScale+ MPSoC).</a:t>
            </a:r>
          </a:p>
          <a:p>
            <a:pPr algn="l" marL="567324" indent="-283662" lvl="1">
              <a:lnSpc>
                <a:spcPts val="4204"/>
              </a:lnSpc>
              <a:buFont typeface="Arial"/>
              <a:buChar char="•"/>
            </a:pPr>
            <a:r>
              <a:rPr lang="en-US" b="true" sz="2627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Vitis AI Workflow:</a:t>
            </a:r>
          </a:p>
          <a:p>
            <a:pPr algn="l" marL="567324" indent="-283662" lvl="1">
              <a:lnSpc>
                <a:spcPts val="4204"/>
              </a:lnSpc>
              <a:buFont typeface="Arial"/>
              <a:buChar char="•"/>
            </a:pPr>
            <a:r>
              <a:rPr lang="en-US" sz="26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 Inspection, Quantization (INT8).</a:t>
            </a:r>
          </a:p>
          <a:p>
            <a:pPr algn="l" marL="567324" indent="-283662" lvl="1">
              <a:lnSpc>
                <a:spcPts val="4204"/>
              </a:lnSpc>
              <a:buFont typeface="Arial"/>
              <a:buChar char="•"/>
            </a:pPr>
            <a:r>
              <a:rPr lang="en-US" sz="26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Initial Deployment of </a:t>
            </a:r>
            <a:r>
              <a:rPr lang="en-US" sz="26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YOLOv5n.</a:t>
            </a:r>
          </a:p>
          <a:p>
            <a:pPr algn="l">
              <a:lnSpc>
                <a:spcPts val="4204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0434450" y="5041624"/>
            <a:ext cx="5494479" cy="4764812"/>
          </a:xfrm>
          <a:custGeom>
            <a:avLst/>
            <a:gdLst/>
            <a:ahLst/>
            <a:cxnLst/>
            <a:rect r="r" b="b" t="t" l="l"/>
            <a:pathLst>
              <a:path h="4764812" w="5494479">
                <a:moveTo>
                  <a:pt x="0" y="0"/>
                </a:moveTo>
                <a:lnTo>
                  <a:pt x="5494479" y="0"/>
                </a:lnTo>
                <a:lnTo>
                  <a:pt x="5494479" y="4764813"/>
                </a:lnTo>
                <a:lnTo>
                  <a:pt x="0" y="47648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847771"/>
            <a:chOff x="0" y="0"/>
            <a:chExt cx="6186311" cy="2867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286777"/>
            </a:xfrm>
            <a:custGeom>
              <a:avLst/>
              <a:gdLst/>
              <a:ahLst/>
              <a:cxnLst/>
              <a:rect r="r" b="b" t="t" l="l"/>
              <a:pathLst>
                <a:path h="286777" w="6186311">
                  <a:moveTo>
                    <a:pt x="0" y="0"/>
                  </a:moveTo>
                  <a:lnTo>
                    <a:pt x="6186311" y="0"/>
                  </a:lnTo>
                  <a:lnTo>
                    <a:pt x="6186311" y="286777"/>
                  </a:lnTo>
                  <a:lnTo>
                    <a:pt x="0" y="286777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847771" cy="847771"/>
            <a:chOff x="0" y="0"/>
            <a:chExt cx="1913890" cy="1913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C84B31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425694" y="1933578"/>
            <a:ext cx="11436612" cy="8234361"/>
          </a:xfrm>
          <a:custGeom>
            <a:avLst/>
            <a:gdLst/>
            <a:ahLst/>
            <a:cxnLst/>
            <a:rect r="r" b="b" t="t" l="l"/>
            <a:pathLst>
              <a:path h="8234361" w="11436612">
                <a:moveTo>
                  <a:pt x="0" y="0"/>
                </a:moveTo>
                <a:lnTo>
                  <a:pt x="11436612" y="0"/>
                </a:lnTo>
                <a:lnTo>
                  <a:pt x="11436612" y="8234361"/>
                </a:lnTo>
                <a:lnTo>
                  <a:pt x="0" y="82343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23950" y="242910"/>
            <a:ext cx="105927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74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Milestones Achieved Summary (Gantt Chart)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759" y="242910"/>
            <a:ext cx="53825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>
                <a:solidFill>
                  <a:srgbClr val="EEEEE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20328" y="800100"/>
            <a:ext cx="5067266" cy="113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5999">
                <a:solidFill>
                  <a:srgbClr val="2D4263"/>
                </a:solidFill>
                <a:latin typeface="Poppins Bold"/>
                <a:ea typeface="Poppins Bold"/>
                <a:cs typeface="Poppins Bold"/>
                <a:sym typeface="Poppins Bold"/>
              </a:rPr>
              <a:t>Gantt Chart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918147" y="9134475"/>
            <a:ext cx="68230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847771"/>
            <a:chOff x="0" y="0"/>
            <a:chExt cx="6186311" cy="2867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286777"/>
            </a:xfrm>
            <a:custGeom>
              <a:avLst/>
              <a:gdLst/>
              <a:ahLst/>
              <a:cxnLst/>
              <a:rect r="r" b="b" t="t" l="l"/>
              <a:pathLst>
                <a:path h="286777" w="6186311">
                  <a:moveTo>
                    <a:pt x="0" y="0"/>
                  </a:moveTo>
                  <a:lnTo>
                    <a:pt x="6186311" y="0"/>
                  </a:lnTo>
                  <a:lnTo>
                    <a:pt x="6186311" y="286777"/>
                  </a:lnTo>
                  <a:lnTo>
                    <a:pt x="0" y="286777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847771" cy="847771"/>
            <a:chOff x="0" y="0"/>
            <a:chExt cx="1913890" cy="1913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C84B31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503202" y="3476627"/>
            <a:ext cx="8088356" cy="5461258"/>
          </a:xfrm>
          <a:custGeom>
            <a:avLst/>
            <a:gdLst/>
            <a:ahLst/>
            <a:cxnLst/>
            <a:rect r="r" b="b" t="t" l="l"/>
            <a:pathLst>
              <a:path h="5461258" w="8088356">
                <a:moveTo>
                  <a:pt x="0" y="0"/>
                </a:moveTo>
                <a:lnTo>
                  <a:pt x="8088356" y="0"/>
                </a:lnTo>
                <a:lnTo>
                  <a:pt x="8088356" y="5461258"/>
                </a:lnTo>
                <a:lnTo>
                  <a:pt x="0" y="5461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23950" y="242910"/>
            <a:ext cx="105927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74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Literature Review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759" y="242910"/>
            <a:ext cx="53825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>
                <a:solidFill>
                  <a:srgbClr val="EEEEE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918147" y="9134475"/>
            <a:ext cx="68230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23950" y="1019425"/>
            <a:ext cx="7086465" cy="1120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08"/>
              </a:lnSpc>
            </a:pPr>
            <a:r>
              <a:rPr lang="en-US" sz="5880">
                <a:solidFill>
                  <a:srgbClr val="2D4263"/>
                </a:solidFill>
                <a:latin typeface="Poppins Bold"/>
                <a:ea typeface="Poppins Bold"/>
                <a:cs typeface="Poppins Bold"/>
                <a:sym typeface="Poppins Bold"/>
              </a:rPr>
              <a:t>Literature Review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3012" y="2435425"/>
            <a:ext cx="10356014" cy="743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324" indent="-283662" lvl="1">
              <a:lnSpc>
                <a:spcPts val="4204"/>
              </a:lnSpc>
              <a:buFont typeface="Arial"/>
              <a:buChar char="•"/>
            </a:pPr>
            <a:r>
              <a:rPr lang="en-US" b="true" sz="2627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Purpose: </a:t>
            </a:r>
            <a:r>
              <a:rPr lang="en-US" sz="26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To review advancements in machine vision for steel surface defect detection and deployment on FPGA SoC.</a:t>
            </a:r>
          </a:p>
          <a:p>
            <a:pPr algn="l" marL="567324" indent="-283662" lvl="1">
              <a:lnSpc>
                <a:spcPts val="4204"/>
              </a:lnSpc>
              <a:buFont typeface="Arial"/>
              <a:buChar char="•"/>
            </a:pPr>
            <a:r>
              <a:rPr lang="en-US" b="true" sz="2627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Resources Used: </a:t>
            </a:r>
            <a:r>
              <a:rPr lang="en-US" sz="26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IEEE, ElsvierScopus &amp; SpringerLink</a:t>
            </a:r>
          </a:p>
          <a:p>
            <a:pPr algn="l" marL="567324" indent="-283662" lvl="1">
              <a:lnSpc>
                <a:spcPts val="4204"/>
              </a:lnSpc>
              <a:buFont typeface="Arial"/>
              <a:buChar char="•"/>
            </a:pPr>
            <a:r>
              <a:rPr lang="en-US" b="true" sz="2627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Key Insights:</a:t>
            </a:r>
            <a:r>
              <a:rPr lang="en-US" sz="26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</a:p>
          <a:p>
            <a:pPr algn="l" marL="1134647" indent="-378216" lvl="2">
              <a:lnSpc>
                <a:spcPts val="4204"/>
              </a:lnSpc>
              <a:buAutoNum type="alphaLcPeriod" startAt="1"/>
            </a:pPr>
            <a:r>
              <a:rPr lang="en-US" sz="26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26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YOLO models most widely used for deployment on FPGAs</a:t>
            </a:r>
          </a:p>
          <a:p>
            <a:pPr algn="l" marL="1134647" indent="-378216" lvl="2">
              <a:lnSpc>
                <a:spcPts val="4204"/>
              </a:lnSpc>
              <a:buAutoNum type="alphaLcPeriod" startAt="1"/>
            </a:pPr>
            <a:r>
              <a:rPr lang="en-US" sz="26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Publicly available datasets widely used for comparison of models </a:t>
            </a:r>
          </a:p>
          <a:p>
            <a:pPr algn="l" marL="1134647" indent="-378216" lvl="2">
              <a:lnSpc>
                <a:spcPts val="4204"/>
              </a:lnSpc>
              <a:buAutoNum type="alphaLcPeriod" startAt="1"/>
            </a:pPr>
            <a:r>
              <a:rPr lang="en-US" sz="26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Performance metrics used to evaluate models</a:t>
            </a:r>
          </a:p>
          <a:p>
            <a:pPr algn="l" marL="1134647" indent="-378216" lvl="2">
              <a:lnSpc>
                <a:spcPts val="4204"/>
              </a:lnSpc>
              <a:buAutoNum type="alphaLcPeriod" startAt="1"/>
            </a:pPr>
            <a:r>
              <a:rPr lang="en-US" sz="26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Advantages of FPGAs over CPUs and GPUs</a:t>
            </a:r>
          </a:p>
          <a:p>
            <a:pPr algn="l" marL="1134647" indent="-378216" lvl="2">
              <a:lnSpc>
                <a:spcPts val="4204"/>
              </a:lnSpc>
              <a:buAutoNum type="alphaLcPeriod" startAt="1"/>
            </a:pPr>
            <a:r>
              <a:rPr lang="en-US" sz="26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Challanges faced in model deployment on FPGAs</a:t>
            </a:r>
          </a:p>
          <a:p>
            <a:pPr algn="l" marL="567324" indent="-283662" lvl="1">
              <a:lnSpc>
                <a:spcPts val="4204"/>
              </a:lnSpc>
              <a:buFont typeface="Arial"/>
              <a:buChar char="•"/>
            </a:pPr>
            <a:r>
              <a:rPr lang="en-US" b="true" sz="2627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Impact on Project: </a:t>
            </a:r>
            <a:r>
              <a:rPr lang="en-US" sz="26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shaped project objectives, provided a guided methodology and focus toward innovation</a:t>
            </a:r>
            <a:r>
              <a:rPr lang="en-US" b="true" sz="2627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847771"/>
            <a:chOff x="0" y="0"/>
            <a:chExt cx="6186311" cy="2867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286777"/>
            </a:xfrm>
            <a:custGeom>
              <a:avLst/>
              <a:gdLst/>
              <a:ahLst/>
              <a:cxnLst/>
              <a:rect r="r" b="b" t="t" l="l"/>
              <a:pathLst>
                <a:path h="286777" w="6186311">
                  <a:moveTo>
                    <a:pt x="0" y="0"/>
                  </a:moveTo>
                  <a:lnTo>
                    <a:pt x="6186311" y="0"/>
                  </a:lnTo>
                  <a:lnTo>
                    <a:pt x="6186311" y="286777"/>
                  </a:lnTo>
                  <a:lnTo>
                    <a:pt x="0" y="286777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847771" cy="847771"/>
            <a:chOff x="0" y="0"/>
            <a:chExt cx="1913890" cy="1913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C84B31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855078" y="847771"/>
            <a:ext cx="12577844" cy="9439229"/>
          </a:xfrm>
          <a:custGeom>
            <a:avLst/>
            <a:gdLst/>
            <a:ahLst/>
            <a:cxnLst/>
            <a:rect r="r" b="b" t="t" l="l"/>
            <a:pathLst>
              <a:path h="9439229" w="12577844">
                <a:moveTo>
                  <a:pt x="0" y="0"/>
                </a:moveTo>
                <a:lnTo>
                  <a:pt x="12577844" y="0"/>
                </a:lnTo>
                <a:lnTo>
                  <a:pt x="12577844" y="9439229"/>
                </a:lnTo>
                <a:lnTo>
                  <a:pt x="0" y="94392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576" t="-2546" r="-7531" b="-483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23950" y="242910"/>
            <a:ext cx="105927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74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Literature Review (Table)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759" y="242910"/>
            <a:ext cx="53825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>
                <a:solidFill>
                  <a:srgbClr val="EEEEE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918147" y="9134475"/>
            <a:ext cx="68230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847771"/>
            <a:chOff x="0" y="0"/>
            <a:chExt cx="6186311" cy="2867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286777"/>
            </a:xfrm>
            <a:custGeom>
              <a:avLst/>
              <a:gdLst/>
              <a:ahLst/>
              <a:cxnLst/>
              <a:rect r="r" b="b" t="t" l="l"/>
              <a:pathLst>
                <a:path h="286777" w="6186311">
                  <a:moveTo>
                    <a:pt x="0" y="0"/>
                  </a:moveTo>
                  <a:lnTo>
                    <a:pt x="6186311" y="0"/>
                  </a:lnTo>
                  <a:lnTo>
                    <a:pt x="6186311" y="286777"/>
                  </a:lnTo>
                  <a:lnTo>
                    <a:pt x="0" y="286777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847771" cy="847771"/>
            <a:chOff x="0" y="0"/>
            <a:chExt cx="1913890" cy="1913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C84B31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23950" y="242910"/>
            <a:ext cx="105927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74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 Preprocessing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759" y="242910"/>
            <a:ext cx="53825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>
                <a:solidFill>
                  <a:srgbClr val="EEEEE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918147" y="9134475"/>
            <a:ext cx="68230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3012" y="966810"/>
            <a:ext cx="11281626" cy="9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8"/>
              </a:lnSpc>
            </a:pPr>
            <a:r>
              <a:rPr lang="en-US" sz="4780">
                <a:solidFill>
                  <a:srgbClr val="2D4263"/>
                </a:solidFill>
                <a:latin typeface="Poppins Bold"/>
                <a:ea typeface="Poppins Bold"/>
                <a:cs typeface="Poppins Bold"/>
                <a:sym typeface="Poppins Bold"/>
              </a:rPr>
              <a:t>Key Steps in Data Preprocessing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3012" y="2071750"/>
            <a:ext cx="8127459" cy="2718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4"/>
              </a:lnSpc>
            </a:pPr>
            <a:r>
              <a:rPr lang="en-US" sz="2727" b="true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1.Data Inspection</a:t>
            </a:r>
          </a:p>
          <a:p>
            <a:pPr algn="l" marL="588913" indent="-294457" lvl="1">
              <a:lnSpc>
                <a:spcPts val="4364"/>
              </a:lnSpc>
              <a:buFont typeface="Arial"/>
              <a:buChar char="•"/>
            </a:pPr>
            <a:r>
              <a:rPr lang="en-US" sz="27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Filtered clear, noise-free images.</a:t>
            </a:r>
          </a:p>
          <a:p>
            <a:pPr algn="l" marL="588913" indent="-294457" lvl="1">
              <a:lnSpc>
                <a:spcPts val="4364"/>
              </a:lnSpc>
              <a:buFont typeface="Arial"/>
              <a:buChar char="•"/>
            </a:pPr>
            <a:r>
              <a:rPr lang="en-US" sz="27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Discarded low-resolution and blurry images.</a:t>
            </a:r>
          </a:p>
          <a:p>
            <a:pPr algn="l">
              <a:lnSpc>
                <a:spcPts val="436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693012" y="4457307"/>
            <a:ext cx="8127459" cy="4376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4"/>
              </a:lnSpc>
            </a:pPr>
          </a:p>
          <a:p>
            <a:pPr algn="l">
              <a:lnSpc>
                <a:spcPts val="4364"/>
              </a:lnSpc>
            </a:pPr>
            <a:r>
              <a:rPr lang="en-US" sz="2727" b="true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2.D</a:t>
            </a:r>
            <a:r>
              <a:rPr lang="en-US" sz="2727" b="true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ata Annotation</a:t>
            </a:r>
          </a:p>
          <a:p>
            <a:pPr algn="l" marL="588913" indent="-294457" lvl="1">
              <a:lnSpc>
                <a:spcPts val="4364"/>
              </a:lnSpc>
              <a:buFont typeface="Arial"/>
              <a:buChar char="•"/>
            </a:pPr>
            <a:r>
              <a:rPr lang="en-US" sz="27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Annotated using Roboflow with bounding boxes:</a:t>
            </a:r>
          </a:p>
          <a:p>
            <a:pPr algn="l" marL="1177826" indent="-392609" lvl="2">
              <a:lnSpc>
                <a:spcPts val="4364"/>
              </a:lnSpc>
              <a:buFont typeface="Arial"/>
              <a:buChar char="⚬"/>
            </a:pPr>
            <a:r>
              <a:rPr lang="en-US" b="true" sz="2727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Categories:</a:t>
            </a:r>
            <a:r>
              <a:rPr lang="en-US" sz="27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Cracks, Inclusions, Scratches</a:t>
            </a:r>
          </a:p>
          <a:p>
            <a:pPr algn="l" marL="588913" indent="-294457" lvl="1">
              <a:lnSpc>
                <a:spcPts val="4364"/>
              </a:lnSpc>
              <a:buFont typeface="Arial"/>
              <a:buChar char="•"/>
            </a:pPr>
            <a:r>
              <a:rPr lang="en-US" sz="27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Exported in YOLOv5-compatible format.</a:t>
            </a:r>
          </a:p>
          <a:p>
            <a:pPr algn="l">
              <a:lnSpc>
                <a:spcPts val="4364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472994" y="2079059"/>
            <a:ext cx="8127459" cy="6033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4"/>
              </a:lnSpc>
            </a:pPr>
            <a:r>
              <a:rPr lang="en-US" sz="2727" b="true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3.Data Augmentation</a:t>
            </a:r>
          </a:p>
          <a:p>
            <a:pPr algn="l" marL="588913" indent="-294457" lvl="1">
              <a:lnSpc>
                <a:spcPts val="4364"/>
              </a:lnSpc>
              <a:buFont typeface="Arial"/>
              <a:buChar char="•"/>
            </a:pPr>
            <a:r>
              <a:rPr lang="en-US" b="true" sz="2727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Techniques Applied:</a:t>
            </a:r>
          </a:p>
          <a:p>
            <a:pPr algn="l" marL="1177826" indent="-392609" lvl="2">
              <a:lnSpc>
                <a:spcPts val="4364"/>
              </a:lnSpc>
              <a:buFont typeface="Arial"/>
              <a:buChar char="⚬"/>
            </a:pPr>
            <a:r>
              <a:rPr lang="en-US" b="true" sz="2727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90° Rotations:</a:t>
            </a:r>
            <a:r>
              <a:rPr lang="en-US" sz="27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Clockwise, Counterclockwise, Upside-down.</a:t>
            </a:r>
          </a:p>
          <a:p>
            <a:pPr algn="l" marL="1177826" indent="-392609" lvl="2">
              <a:lnSpc>
                <a:spcPts val="4364"/>
              </a:lnSpc>
              <a:buFont typeface="Arial"/>
              <a:buChar char="⚬"/>
            </a:pPr>
            <a:r>
              <a:rPr lang="en-US" sz="27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Crop: Up to 10% zoom.</a:t>
            </a:r>
          </a:p>
          <a:p>
            <a:pPr algn="l" marL="1177826" indent="-392609" lvl="2">
              <a:lnSpc>
                <a:spcPts val="4364"/>
              </a:lnSpc>
              <a:buFont typeface="Arial"/>
              <a:buChar char="⚬"/>
            </a:pPr>
            <a:r>
              <a:rPr lang="en-US" b="true" sz="2727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Rotation: </a:t>
            </a:r>
            <a:r>
              <a:rPr lang="en-US" sz="27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Random angles (-10° to +10°).</a:t>
            </a:r>
          </a:p>
          <a:p>
            <a:pPr algn="l" marL="1177826" indent="-392609" lvl="2">
              <a:lnSpc>
                <a:spcPts val="4364"/>
              </a:lnSpc>
              <a:buFont typeface="Arial"/>
              <a:buChar char="⚬"/>
            </a:pPr>
            <a:r>
              <a:rPr lang="en-US" sz="27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Cutout: Simulated occlusions.</a:t>
            </a:r>
          </a:p>
          <a:p>
            <a:pPr algn="l" marL="588913" indent="-294457" lvl="1">
              <a:lnSpc>
                <a:spcPts val="4364"/>
              </a:lnSpc>
              <a:buFont typeface="Arial"/>
              <a:buChar char="•"/>
            </a:pPr>
            <a:r>
              <a:rPr lang="en-US" b="true" sz="2727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Outcome:</a:t>
            </a:r>
            <a:r>
              <a:rPr lang="en-US" sz="27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3 augmented versions per image for dataset diversity.</a:t>
            </a:r>
          </a:p>
          <a:p>
            <a:pPr algn="l">
              <a:lnSpc>
                <a:spcPts val="4364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847771"/>
            <a:chOff x="0" y="0"/>
            <a:chExt cx="6186311" cy="2867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286777"/>
            </a:xfrm>
            <a:custGeom>
              <a:avLst/>
              <a:gdLst/>
              <a:ahLst/>
              <a:cxnLst/>
              <a:rect r="r" b="b" t="t" l="l"/>
              <a:pathLst>
                <a:path h="286777" w="6186311">
                  <a:moveTo>
                    <a:pt x="0" y="0"/>
                  </a:moveTo>
                  <a:lnTo>
                    <a:pt x="6186311" y="0"/>
                  </a:lnTo>
                  <a:lnTo>
                    <a:pt x="6186311" y="286777"/>
                  </a:lnTo>
                  <a:lnTo>
                    <a:pt x="0" y="286777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847771" cy="847771"/>
            <a:chOff x="0" y="0"/>
            <a:chExt cx="1913890" cy="1913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C84B31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012108" y="2732115"/>
            <a:ext cx="9178014" cy="2411385"/>
          </a:xfrm>
          <a:custGeom>
            <a:avLst/>
            <a:gdLst/>
            <a:ahLst/>
            <a:cxnLst/>
            <a:rect r="r" b="b" t="t" l="l"/>
            <a:pathLst>
              <a:path h="2411385" w="9178014">
                <a:moveTo>
                  <a:pt x="0" y="0"/>
                </a:moveTo>
                <a:lnTo>
                  <a:pt x="9178015" y="0"/>
                </a:lnTo>
                <a:lnTo>
                  <a:pt x="9178015" y="2411385"/>
                </a:lnTo>
                <a:lnTo>
                  <a:pt x="0" y="2411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164" r="0" b="-1816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20471" y="7007791"/>
            <a:ext cx="9561289" cy="1517855"/>
          </a:xfrm>
          <a:custGeom>
            <a:avLst/>
            <a:gdLst/>
            <a:ahLst/>
            <a:cxnLst/>
            <a:rect r="r" b="b" t="t" l="l"/>
            <a:pathLst>
              <a:path h="1517855" w="9561289">
                <a:moveTo>
                  <a:pt x="0" y="0"/>
                </a:moveTo>
                <a:lnTo>
                  <a:pt x="9561289" y="0"/>
                </a:lnTo>
                <a:lnTo>
                  <a:pt x="9561289" y="1517855"/>
                </a:lnTo>
                <a:lnTo>
                  <a:pt x="0" y="15178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23950" y="242910"/>
            <a:ext cx="105927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74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 Preprocessing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4759" y="242910"/>
            <a:ext cx="53825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>
                <a:solidFill>
                  <a:srgbClr val="EEEEE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918147" y="9134475"/>
            <a:ext cx="68230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3012" y="966810"/>
            <a:ext cx="11281626" cy="9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8"/>
              </a:lnSpc>
            </a:pPr>
            <a:r>
              <a:rPr lang="en-US" sz="4780">
                <a:solidFill>
                  <a:srgbClr val="2D4263"/>
                </a:solidFill>
                <a:latin typeface="Poppins Bold"/>
                <a:ea typeface="Poppins Bold"/>
                <a:cs typeface="Poppins Bold"/>
                <a:sym typeface="Poppins Bold"/>
              </a:rPr>
              <a:t>Key Steps in Data Preprocessing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3012" y="5048250"/>
            <a:ext cx="8127459" cy="3823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4"/>
              </a:lnSpc>
            </a:pPr>
            <a:r>
              <a:rPr lang="en-US" sz="2727" b="true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5.Conversion and Organization</a:t>
            </a:r>
          </a:p>
          <a:p>
            <a:pPr algn="l" marL="588913" indent="-294457" lvl="1">
              <a:lnSpc>
                <a:spcPts val="4364"/>
              </a:lnSpc>
              <a:buFont typeface="Arial"/>
              <a:buChar char="•"/>
            </a:pPr>
            <a:r>
              <a:rPr lang="en-US" b="true" sz="2727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Annotation Format:</a:t>
            </a:r>
            <a:r>
              <a:rPr lang="en-US" sz="27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[class_id, x_center, y_center, width, height]</a:t>
            </a:r>
          </a:p>
          <a:p>
            <a:pPr algn="l" marL="588913" indent="-294457" lvl="1">
              <a:lnSpc>
                <a:spcPts val="4364"/>
              </a:lnSpc>
              <a:buFont typeface="Arial"/>
              <a:buChar char="•"/>
            </a:pPr>
            <a:r>
              <a:rPr lang="en-US" b="true" sz="2727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Directory Structure:</a:t>
            </a:r>
          </a:p>
          <a:p>
            <a:pPr algn="l" marL="1177826" indent="-392609" lvl="2">
              <a:lnSpc>
                <a:spcPts val="4364"/>
              </a:lnSpc>
              <a:buFont typeface="Arial"/>
              <a:buChar char="⚬"/>
            </a:pPr>
            <a:r>
              <a:rPr lang="en-US" sz="27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images: Train, Val, Test</a:t>
            </a:r>
          </a:p>
          <a:p>
            <a:pPr algn="l" marL="1177826" indent="-392609" lvl="2">
              <a:lnSpc>
                <a:spcPts val="4364"/>
              </a:lnSpc>
              <a:buFont typeface="Arial"/>
              <a:buChar char="⚬"/>
            </a:pPr>
            <a:r>
              <a:rPr lang="en-US" sz="27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labels: Corresponding .txt annotations</a:t>
            </a:r>
          </a:p>
          <a:p>
            <a:pPr algn="l">
              <a:lnSpc>
                <a:spcPts val="436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693012" y="2071750"/>
            <a:ext cx="8127459" cy="2718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4"/>
              </a:lnSpc>
            </a:pPr>
            <a:r>
              <a:rPr lang="en-US" sz="2727" b="true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4.Dataset Split</a:t>
            </a:r>
          </a:p>
          <a:p>
            <a:pPr algn="l" marL="588913" indent="-294457" lvl="1">
              <a:lnSpc>
                <a:spcPts val="4364"/>
              </a:lnSpc>
              <a:buFont typeface="Arial"/>
              <a:buChar char="•"/>
            </a:pPr>
            <a:r>
              <a:rPr lang="en-US" sz="27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</a:t>
            </a:r>
            <a:r>
              <a:rPr lang="en-US" sz="27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rain: 80%</a:t>
            </a:r>
          </a:p>
          <a:p>
            <a:pPr algn="l" marL="588913" indent="-294457" lvl="1">
              <a:lnSpc>
                <a:spcPts val="4364"/>
              </a:lnSpc>
              <a:buFont typeface="Arial"/>
              <a:buChar char="•"/>
            </a:pPr>
            <a:r>
              <a:rPr lang="en-US" sz="27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Val</a:t>
            </a:r>
            <a:r>
              <a:rPr lang="en-US" sz="27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idation: 10%</a:t>
            </a:r>
          </a:p>
          <a:p>
            <a:pPr algn="l" marL="588913" indent="-294457" lvl="1">
              <a:lnSpc>
                <a:spcPts val="4364"/>
              </a:lnSpc>
              <a:buFont typeface="Arial"/>
              <a:buChar char="•"/>
            </a:pPr>
            <a:r>
              <a:rPr lang="en-US" sz="27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Test: 10%</a:t>
            </a:r>
          </a:p>
          <a:p>
            <a:pPr algn="l">
              <a:lnSpc>
                <a:spcPts val="4364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9119555" y="1375931"/>
            <a:ext cx="5194301" cy="172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0"/>
              </a:lnSpc>
            </a:pPr>
          </a:p>
          <a:p>
            <a:pPr algn="l">
              <a:lnSpc>
                <a:spcPts val="4368"/>
              </a:lnSpc>
            </a:pPr>
            <a:r>
              <a:rPr lang="en-US" sz="2729" b="true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NEU-DET dataset defects</a:t>
            </a:r>
          </a:p>
          <a:p>
            <a:pPr algn="l">
              <a:lnSpc>
                <a:spcPts val="473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5589758"/>
            <a:ext cx="5194301" cy="1070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8"/>
              </a:lnSpc>
            </a:pPr>
            <a:r>
              <a:rPr lang="en-US" sz="2729" b="true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Defects on steel rods from Agriauto dataset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847771"/>
            <a:chOff x="0" y="0"/>
            <a:chExt cx="6186311" cy="2867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286777"/>
            </a:xfrm>
            <a:custGeom>
              <a:avLst/>
              <a:gdLst/>
              <a:ahLst/>
              <a:cxnLst/>
              <a:rect r="r" b="b" t="t" l="l"/>
              <a:pathLst>
                <a:path h="286777" w="6186311">
                  <a:moveTo>
                    <a:pt x="0" y="0"/>
                  </a:moveTo>
                  <a:lnTo>
                    <a:pt x="6186311" y="0"/>
                  </a:lnTo>
                  <a:lnTo>
                    <a:pt x="6186311" y="286777"/>
                  </a:lnTo>
                  <a:lnTo>
                    <a:pt x="0" y="286777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847771" cy="847771"/>
            <a:chOff x="0" y="0"/>
            <a:chExt cx="1913890" cy="1913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C84B31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533644" y="6068187"/>
            <a:ext cx="9425959" cy="3190113"/>
          </a:xfrm>
          <a:custGeom>
            <a:avLst/>
            <a:gdLst/>
            <a:ahLst/>
            <a:cxnLst/>
            <a:rect r="r" b="b" t="t" l="l"/>
            <a:pathLst>
              <a:path h="3190113" w="9425959">
                <a:moveTo>
                  <a:pt x="0" y="0"/>
                </a:moveTo>
                <a:lnTo>
                  <a:pt x="9425959" y="0"/>
                </a:lnTo>
                <a:lnTo>
                  <a:pt x="9425959" y="3190113"/>
                </a:lnTo>
                <a:lnTo>
                  <a:pt x="0" y="31901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046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23950" y="242910"/>
            <a:ext cx="105927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74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 Training &amp; Optimization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759" y="242910"/>
            <a:ext cx="53825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>
                <a:solidFill>
                  <a:srgbClr val="EEEEE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III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918147" y="9134475"/>
            <a:ext cx="68230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9900" y="977923"/>
            <a:ext cx="12236249" cy="1022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08"/>
              </a:lnSpc>
            </a:pPr>
            <a:r>
              <a:rPr lang="en-US" sz="5380">
                <a:solidFill>
                  <a:srgbClr val="2D4263"/>
                </a:solidFill>
                <a:latin typeface="Poppins Bold"/>
                <a:ea typeface="Poppins Bold"/>
                <a:cs typeface="Poppins Bold"/>
                <a:sym typeface="Poppins Bold"/>
              </a:rPr>
              <a:t>Model Training &amp; Optimization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9705" y="2234946"/>
            <a:ext cx="7300565" cy="7147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9407" indent="-294704" lvl="1">
              <a:lnSpc>
                <a:spcPts val="4368"/>
              </a:lnSpc>
              <a:buFont typeface="Arial"/>
              <a:buChar char="•"/>
            </a:pPr>
            <a:r>
              <a:rPr lang="en-US" b="true" sz="2729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Model Options Available: </a:t>
            </a:r>
          </a:p>
          <a:p>
            <a:pPr algn="l" marL="1178814" indent="-392938" lvl="2">
              <a:lnSpc>
                <a:spcPts val="4368"/>
              </a:lnSpc>
              <a:buAutoNum type="alphaLcPeriod" startAt="1"/>
            </a:pPr>
            <a:r>
              <a:rPr lang="en-US" sz="2729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comparing YOLOv3, YOLOv5, YOLOv7 and YOLOv11</a:t>
            </a:r>
          </a:p>
          <a:p>
            <a:pPr algn="l" marL="1178814" indent="-392938" lvl="2">
              <a:lnSpc>
                <a:spcPts val="4368"/>
              </a:lnSpc>
              <a:buAutoNum type="alphaLcPeriod" startAt="1"/>
            </a:pPr>
            <a:r>
              <a:rPr lang="en-US" sz="2729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YOLOv7 and YOLOv11 excluded due to hardware constraints</a:t>
            </a:r>
          </a:p>
          <a:p>
            <a:pPr algn="l" marL="589407" indent="-294704" lvl="1">
              <a:lnSpc>
                <a:spcPts val="4368"/>
              </a:lnSpc>
              <a:buFont typeface="Arial"/>
              <a:buChar char="•"/>
            </a:pPr>
            <a:r>
              <a:rPr lang="en-US" b="true" sz="2729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Comparing YOLOv3 and YOLOv5:</a:t>
            </a:r>
          </a:p>
          <a:p>
            <a:pPr algn="l" marL="1178814" indent="-392938" lvl="2">
              <a:lnSpc>
                <a:spcPts val="4368"/>
              </a:lnSpc>
              <a:buAutoNum type="alphaLcPeriod" startAt="1"/>
            </a:pPr>
            <a:r>
              <a:rPr lang="en-US" sz="2729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YOLOv3 is faster than YOLOv5</a:t>
            </a:r>
          </a:p>
          <a:p>
            <a:pPr algn="l" marL="1178814" indent="-392938" lvl="2">
              <a:lnSpc>
                <a:spcPts val="4368"/>
              </a:lnSpc>
              <a:buAutoNum type="alphaLcPeriod" startAt="1"/>
            </a:pPr>
            <a:r>
              <a:rPr lang="en-US" sz="2729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Although, YOLOv5 offers better accuracy</a:t>
            </a:r>
          </a:p>
          <a:p>
            <a:pPr algn="l" marL="1178814" indent="-392938" lvl="2">
              <a:lnSpc>
                <a:spcPts val="4368"/>
              </a:lnSpc>
              <a:buAutoNum type="alphaLcPeriod" startAt="1"/>
            </a:pPr>
            <a:r>
              <a:rPr lang="en-US" sz="2729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However, YOLOv5 incorporates efficient network architecture thus requiring lesser memory bandwidth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88157" y="2234946"/>
            <a:ext cx="7971143" cy="3833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9407" indent="-294704" lvl="1">
              <a:lnSpc>
                <a:spcPts val="4368"/>
              </a:lnSpc>
              <a:buFont typeface="Arial"/>
              <a:buChar char="•"/>
            </a:pPr>
            <a:r>
              <a:rPr lang="en-US" b="true" sz="2729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Comparing Variants of YOLOv5: </a:t>
            </a:r>
          </a:p>
          <a:p>
            <a:pPr algn="l" marL="1178814" indent="-392938" lvl="2">
              <a:lnSpc>
                <a:spcPts val="4368"/>
              </a:lnSpc>
              <a:buAutoNum type="alphaLcPeriod" startAt="1"/>
            </a:pPr>
            <a:r>
              <a:rPr lang="en-US" sz="2729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YOLOv5x, YOLOv5l, and YOLOv5m require a lot of memory bandwidth</a:t>
            </a:r>
          </a:p>
          <a:p>
            <a:pPr algn="l" marL="1178814" indent="-392938" lvl="2">
              <a:lnSpc>
                <a:spcPts val="4368"/>
              </a:lnSpc>
              <a:buAutoNum type="alphaLcPeriod" startAt="1"/>
            </a:pPr>
            <a:r>
              <a:rPr lang="en-US" sz="2729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YOLOv5n is the most widely used, FPGA friendly model offering a great balance between accuracy and performance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847771"/>
            <a:chOff x="0" y="0"/>
            <a:chExt cx="6186311" cy="2867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286777"/>
            </a:xfrm>
            <a:custGeom>
              <a:avLst/>
              <a:gdLst/>
              <a:ahLst/>
              <a:cxnLst/>
              <a:rect r="r" b="b" t="t" l="l"/>
              <a:pathLst>
                <a:path h="286777" w="6186311">
                  <a:moveTo>
                    <a:pt x="0" y="0"/>
                  </a:moveTo>
                  <a:lnTo>
                    <a:pt x="6186311" y="0"/>
                  </a:lnTo>
                  <a:lnTo>
                    <a:pt x="6186311" y="286777"/>
                  </a:lnTo>
                  <a:lnTo>
                    <a:pt x="0" y="286777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847771" cy="847771"/>
            <a:chOff x="0" y="0"/>
            <a:chExt cx="1913890" cy="1913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C84B31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414325" y="1585675"/>
            <a:ext cx="12627402" cy="7239166"/>
          </a:xfrm>
          <a:custGeom>
            <a:avLst/>
            <a:gdLst/>
            <a:ahLst/>
            <a:cxnLst/>
            <a:rect r="r" b="b" t="t" l="l"/>
            <a:pathLst>
              <a:path h="7239166" w="12627402">
                <a:moveTo>
                  <a:pt x="0" y="0"/>
                </a:moveTo>
                <a:lnTo>
                  <a:pt x="12627402" y="0"/>
                </a:lnTo>
                <a:lnTo>
                  <a:pt x="12627402" y="7239167"/>
                </a:lnTo>
                <a:lnTo>
                  <a:pt x="0" y="72391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59" t="0" r="-959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23950" y="242910"/>
            <a:ext cx="105927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74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 Training &amp; Optimization (Architecture)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759" y="242910"/>
            <a:ext cx="53825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>
                <a:solidFill>
                  <a:srgbClr val="EEEEE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IV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918147" y="9134475"/>
            <a:ext cx="68230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3885" y="1472068"/>
            <a:ext cx="4721314" cy="8243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8913" indent="-294457" lvl="1">
              <a:lnSpc>
                <a:spcPts val="4364"/>
              </a:lnSpc>
              <a:buFont typeface="Arial"/>
              <a:buChar char="•"/>
            </a:pPr>
            <a:r>
              <a:rPr lang="en-US" b="true" sz="2727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Backbone:</a:t>
            </a:r>
            <a:r>
              <a:rPr lang="en-US" sz="27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extract features from input image</a:t>
            </a:r>
          </a:p>
          <a:p>
            <a:pPr algn="l" marL="588913" indent="-294457" lvl="1">
              <a:lnSpc>
                <a:spcPts val="4364"/>
              </a:lnSpc>
              <a:buFont typeface="Arial"/>
              <a:buChar char="•"/>
            </a:pPr>
            <a:r>
              <a:rPr lang="en-US" b="true" sz="2727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Neck: </a:t>
            </a:r>
            <a:r>
              <a:rPr lang="en-US" sz="27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gathers information from various scales to find out defects of diversified sizes.</a:t>
            </a:r>
          </a:p>
          <a:p>
            <a:pPr algn="l" marL="588913" indent="-294457" lvl="1">
              <a:lnSpc>
                <a:spcPts val="4364"/>
              </a:lnSpc>
              <a:buFont typeface="Arial"/>
              <a:buChar char="•"/>
            </a:pPr>
            <a:r>
              <a:rPr lang="en-US" b="true" sz="2727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Head: </a:t>
            </a:r>
            <a:r>
              <a:rPr lang="en-US" sz="27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outputs bounding boxes and class probabilities for all</a:t>
            </a:r>
          </a:p>
          <a:p>
            <a:pPr algn="l" marL="588913" indent="-294457" lvl="1">
              <a:lnSpc>
                <a:spcPts val="4364"/>
              </a:lnSpc>
              <a:buFont typeface="Arial"/>
              <a:buChar char="•"/>
            </a:pPr>
            <a:r>
              <a:rPr lang="en-US" b="true" sz="2727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Activation Functions: </a:t>
            </a:r>
            <a:r>
              <a:rPr lang="en-US" sz="2727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ReLU, LeakyReLU, Mish, SiLU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847771"/>
            <a:chOff x="0" y="0"/>
            <a:chExt cx="6186311" cy="2867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286777"/>
            </a:xfrm>
            <a:custGeom>
              <a:avLst/>
              <a:gdLst/>
              <a:ahLst/>
              <a:cxnLst/>
              <a:rect r="r" b="b" t="t" l="l"/>
              <a:pathLst>
                <a:path h="286777" w="6186311">
                  <a:moveTo>
                    <a:pt x="0" y="0"/>
                  </a:moveTo>
                  <a:lnTo>
                    <a:pt x="6186311" y="0"/>
                  </a:lnTo>
                  <a:lnTo>
                    <a:pt x="6186311" y="286777"/>
                  </a:lnTo>
                  <a:lnTo>
                    <a:pt x="0" y="286777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847771" cy="847771"/>
            <a:chOff x="0" y="0"/>
            <a:chExt cx="1913890" cy="1913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C84B31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694992" y="1474762"/>
            <a:ext cx="14898015" cy="3233823"/>
          </a:xfrm>
          <a:custGeom>
            <a:avLst/>
            <a:gdLst/>
            <a:ahLst/>
            <a:cxnLst/>
            <a:rect r="r" b="b" t="t" l="l"/>
            <a:pathLst>
              <a:path h="3233823" w="14898015">
                <a:moveTo>
                  <a:pt x="0" y="0"/>
                </a:moveTo>
                <a:lnTo>
                  <a:pt x="14898016" y="0"/>
                </a:lnTo>
                <a:lnTo>
                  <a:pt x="14898016" y="3233822"/>
                </a:lnTo>
                <a:lnTo>
                  <a:pt x="0" y="32338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94992" y="5813134"/>
            <a:ext cx="14898015" cy="3445166"/>
          </a:xfrm>
          <a:custGeom>
            <a:avLst/>
            <a:gdLst/>
            <a:ahLst/>
            <a:cxnLst/>
            <a:rect r="r" b="b" t="t" l="l"/>
            <a:pathLst>
              <a:path h="3445166" w="14898015">
                <a:moveTo>
                  <a:pt x="0" y="0"/>
                </a:moveTo>
                <a:lnTo>
                  <a:pt x="14898016" y="0"/>
                </a:lnTo>
                <a:lnTo>
                  <a:pt x="14898016" y="3445166"/>
                </a:lnTo>
                <a:lnTo>
                  <a:pt x="0" y="34451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23950" y="242910"/>
            <a:ext cx="105927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74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 Training &amp; Optimization (Results)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4759" y="242910"/>
            <a:ext cx="53825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>
                <a:solidFill>
                  <a:srgbClr val="EEEEE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IV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918147" y="9134475"/>
            <a:ext cx="68230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15282" y="4768851"/>
            <a:ext cx="4257437" cy="374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Training Parameters for YOLOv5n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43976" y="9315450"/>
            <a:ext cx="4200049" cy="374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Performance Metrics of YOLOv5n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847771"/>
            <a:chOff x="0" y="0"/>
            <a:chExt cx="6186311" cy="2867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286777"/>
            </a:xfrm>
            <a:custGeom>
              <a:avLst/>
              <a:gdLst/>
              <a:ahLst/>
              <a:cxnLst/>
              <a:rect r="r" b="b" t="t" l="l"/>
              <a:pathLst>
                <a:path h="286777" w="6186311">
                  <a:moveTo>
                    <a:pt x="0" y="0"/>
                  </a:moveTo>
                  <a:lnTo>
                    <a:pt x="6186311" y="0"/>
                  </a:lnTo>
                  <a:lnTo>
                    <a:pt x="6186311" y="286777"/>
                  </a:lnTo>
                  <a:lnTo>
                    <a:pt x="0" y="286777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847771" cy="847771"/>
            <a:chOff x="0" y="0"/>
            <a:chExt cx="1913890" cy="1913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C84B31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155052" y="1028700"/>
            <a:ext cx="13977896" cy="3318378"/>
          </a:xfrm>
          <a:custGeom>
            <a:avLst/>
            <a:gdLst/>
            <a:ahLst/>
            <a:cxnLst/>
            <a:rect r="r" b="b" t="t" l="l"/>
            <a:pathLst>
              <a:path h="3318378" w="13977896">
                <a:moveTo>
                  <a:pt x="0" y="0"/>
                </a:moveTo>
                <a:lnTo>
                  <a:pt x="13977896" y="0"/>
                </a:lnTo>
                <a:lnTo>
                  <a:pt x="13977896" y="3318378"/>
                </a:lnTo>
                <a:lnTo>
                  <a:pt x="0" y="3318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060" r="0" b="-22731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7237433" y="-91727"/>
            <a:ext cx="3813135" cy="14487792"/>
          </a:xfrm>
          <a:custGeom>
            <a:avLst/>
            <a:gdLst/>
            <a:ahLst/>
            <a:cxnLst/>
            <a:rect r="r" b="b" t="t" l="l"/>
            <a:pathLst>
              <a:path h="14487792" w="3813135">
                <a:moveTo>
                  <a:pt x="0" y="0"/>
                </a:moveTo>
                <a:lnTo>
                  <a:pt x="3813134" y="0"/>
                </a:lnTo>
                <a:lnTo>
                  <a:pt x="3813134" y="14487792"/>
                </a:lnTo>
                <a:lnTo>
                  <a:pt x="0" y="144877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7572" t="0" r="-142371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23950" y="242910"/>
            <a:ext cx="105927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74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 Training &amp; Optimization (Results)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4759" y="242910"/>
            <a:ext cx="53825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>
                <a:solidFill>
                  <a:srgbClr val="EEEEE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IV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918147" y="9134475"/>
            <a:ext cx="68230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35416" y="4451853"/>
            <a:ext cx="7817168" cy="374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Inference Results of YOLOv5n on NEU-DET+GC10-DET Dataset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77461" y="9163511"/>
            <a:ext cx="6533079" cy="374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Inference Results of YOLOv5n on Agriautos Dataset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847771"/>
            <a:chOff x="0" y="0"/>
            <a:chExt cx="6186311" cy="2867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286777"/>
            </a:xfrm>
            <a:custGeom>
              <a:avLst/>
              <a:gdLst/>
              <a:ahLst/>
              <a:cxnLst/>
              <a:rect r="r" b="b" t="t" l="l"/>
              <a:pathLst>
                <a:path h="286777" w="6186311">
                  <a:moveTo>
                    <a:pt x="0" y="0"/>
                  </a:moveTo>
                  <a:lnTo>
                    <a:pt x="6186311" y="0"/>
                  </a:lnTo>
                  <a:lnTo>
                    <a:pt x="6186311" y="286777"/>
                  </a:lnTo>
                  <a:lnTo>
                    <a:pt x="0" y="286777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847771" cy="847771"/>
            <a:chOff x="0" y="0"/>
            <a:chExt cx="1913890" cy="1913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C84B31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938304" y="4708606"/>
            <a:ext cx="9132129" cy="5335914"/>
          </a:xfrm>
          <a:custGeom>
            <a:avLst/>
            <a:gdLst/>
            <a:ahLst/>
            <a:cxnLst/>
            <a:rect r="r" b="b" t="t" l="l"/>
            <a:pathLst>
              <a:path h="5335914" w="9132129">
                <a:moveTo>
                  <a:pt x="0" y="0"/>
                </a:moveTo>
                <a:lnTo>
                  <a:pt x="9132129" y="0"/>
                </a:lnTo>
                <a:lnTo>
                  <a:pt x="9132129" y="5335914"/>
                </a:lnTo>
                <a:lnTo>
                  <a:pt x="0" y="5335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42" t="-4089" r="-2945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71877" y="941663"/>
            <a:ext cx="5464982" cy="3673052"/>
          </a:xfrm>
          <a:custGeom>
            <a:avLst/>
            <a:gdLst/>
            <a:ahLst/>
            <a:cxnLst/>
            <a:rect r="r" b="b" t="t" l="l"/>
            <a:pathLst>
              <a:path h="3673052" w="5464982">
                <a:moveTo>
                  <a:pt x="0" y="0"/>
                </a:moveTo>
                <a:lnTo>
                  <a:pt x="5464983" y="0"/>
                </a:lnTo>
                <a:lnTo>
                  <a:pt x="5464983" y="3673051"/>
                </a:lnTo>
                <a:lnTo>
                  <a:pt x="0" y="36730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23950" y="242910"/>
            <a:ext cx="105927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74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FPGA Deployment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4759" y="242910"/>
            <a:ext cx="53825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>
                <a:solidFill>
                  <a:srgbClr val="EEEEE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IV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918147" y="9134475"/>
            <a:ext cx="68230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959191"/>
            <a:ext cx="7240303" cy="1059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8"/>
              </a:lnSpc>
            </a:pPr>
            <a:r>
              <a:rPr lang="en-US" sz="5580">
                <a:solidFill>
                  <a:srgbClr val="2D4263"/>
                </a:solidFill>
                <a:latin typeface="Poppins Bold"/>
                <a:ea typeface="Poppins Bold"/>
                <a:cs typeface="Poppins Bold"/>
                <a:sym typeface="Poppins Bold"/>
              </a:rPr>
              <a:t>FPGA Deployment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9705" y="2244471"/>
            <a:ext cx="7171424" cy="6474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8981" indent="-289490" lvl="1">
              <a:lnSpc>
                <a:spcPts val="4290"/>
              </a:lnSpc>
              <a:buFont typeface="Arial"/>
              <a:buChar char="•"/>
            </a:pPr>
            <a:r>
              <a:rPr lang="en-US" b="true" sz="2681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FPGA Board Used: </a:t>
            </a:r>
          </a:p>
          <a:p>
            <a:pPr algn="l" marL="1157961" indent="-385987" lvl="2">
              <a:lnSpc>
                <a:spcPts val="4290"/>
              </a:lnSpc>
              <a:buAutoNum type="alphaLcPeriod" startAt="1"/>
            </a:pPr>
            <a:r>
              <a:rPr lang="en-US" sz="2681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Avnet Ultra96-v2, an ARM-based zynq Ultrascale+ MPSoC</a:t>
            </a:r>
          </a:p>
          <a:p>
            <a:pPr algn="l" marL="1157961" indent="-385987" lvl="2">
              <a:lnSpc>
                <a:spcPts val="4290"/>
              </a:lnSpc>
              <a:buAutoNum type="alphaLcPeriod" startAt="1"/>
            </a:pPr>
            <a:r>
              <a:rPr lang="en-US" sz="2681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CLBs, LUTs</a:t>
            </a:r>
          </a:p>
          <a:p>
            <a:pPr algn="l" marL="578981" indent="-289490" lvl="1">
              <a:lnSpc>
                <a:spcPts val="4290"/>
              </a:lnSpc>
              <a:buFont typeface="Arial"/>
              <a:buChar char="•"/>
            </a:pPr>
            <a:r>
              <a:rPr lang="en-US" b="true" sz="2681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Deployment Framework</a:t>
            </a:r>
            <a:r>
              <a:rPr lang="en-US" b="true" sz="2681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:</a:t>
            </a:r>
          </a:p>
          <a:p>
            <a:pPr algn="l" marL="1157961" indent="-385987" lvl="2">
              <a:lnSpc>
                <a:spcPts val="4290"/>
              </a:lnSpc>
              <a:buAutoNum type="alphaLcPeriod" startAt="1"/>
            </a:pPr>
            <a:r>
              <a:rPr lang="en-US" sz="2681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Vitis-AI, developed by Xilinx to accelerate AI inference</a:t>
            </a:r>
          </a:p>
          <a:p>
            <a:pPr algn="l" marL="1157961" indent="-385987" lvl="2">
              <a:lnSpc>
                <a:spcPts val="4290"/>
              </a:lnSpc>
              <a:buAutoNum type="alphaLcPeriod" startAt="1"/>
            </a:pPr>
            <a:r>
              <a:rPr lang="en-US" b="true" sz="2681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Deployment workflow:</a:t>
            </a:r>
          </a:p>
          <a:p>
            <a:pPr algn="l" marL="1736942" indent="-434235" lvl="3">
              <a:lnSpc>
                <a:spcPts val="4290"/>
              </a:lnSpc>
              <a:buAutoNum type="romanLcPeriod" startAt="1"/>
            </a:pPr>
            <a:r>
              <a:rPr lang="en-US" sz="2681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Environment Setup</a:t>
            </a:r>
          </a:p>
          <a:p>
            <a:pPr algn="l" marL="1736942" indent="-434235" lvl="3">
              <a:lnSpc>
                <a:spcPts val="4290"/>
              </a:lnSpc>
              <a:buAutoNum type="romanLcPeriod" startAt="1"/>
            </a:pPr>
            <a:r>
              <a:rPr lang="en-US" sz="2681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Quantization of float model</a:t>
            </a:r>
          </a:p>
          <a:p>
            <a:pPr algn="l" marL="1736942" indent="-434235" lvl="3">
              <a:lnSpc>
                <a:spcPts val="4290"/>
              </a:lnSpc>
              <a:buAutoNum type="romanLcPeriod" startAt="1"/>
            </a:pPr>
            <a:r>
              <a:rPr lang="en-US" sz="2681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Compiling quantized model</a:t>
            </a:r>
          </a:p>
          <a:p>
            <a:pPr algn="l" marL="1736942" indent="-434235" lvl="3">
              <a:lnSpc>
                <a:spcPts val="4290"/>
              </a:lnSpc>
              <a:buAutoNum type="romanLcPeriod" startAt="1"/>
            </a:pPr>
            <a:r>
              <a:rPr lang="en-US" sz="2681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Deployment on FPGA board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847771"/>
            <a:chOff x="0" y="0"/>
            <a:chExt cx="6186311" cy="2867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286777"/>
            </a:xfrm>
            <a:custGeom>
              <a:avLst/>
              <a:gdLst/>
              <a:ahLst/>
              <a:cxnLst/>
              <a:rect r="r" b="b" t="t" l="l"/>
              <a:pathLst>
                <a:path h="286777" w="6186311">
                  <a:moveTo>
                    <a:pt x="0" y="0"/>
                  </a:moveTo>
                  <a:lnTo>
                    <a:pt x="6186311" y="0"/>
                  </a:lnTo>
                  <a:lnTo>
                    <a:pt x="6186311" y="286777"/>
                  </a:lnTo>
                  <a:lnTo>
                    <a:pt x="0" y="286777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847771" cy="847771"/>
            <a:chOff x="0" y="0"/>
            <a:chExt cx="1913890" cy="1913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C84B31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912671" y="2363514"/>
            <a:ext cx="10234136" cy="6798027"/>
          </a:xfrm>
          <a:custGeom>
            <a:avLst/>
            <a:gdLst/>
            <a:ahLst/>
            <a:cxnLst/>
            <a:rect r="r" b="b" t="t" l="l"/>
            <a:pathLst>
              <a:path h="6798027" w="10234136">
                <a:moveTo>
                  <a:pt x="0" y="0"/>
                </a:moveTo>
                <a:lnTo>
                  <a:pt x="10234136" y="0"/>
                </a:lnTo>
                <a:lnTo>
                  <a:pt x="10234136" y="6798027"/>
                </a:lnTo>
                <a:lnTo>
                  <a:pt x="0" y="6798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2" r="0" b="-432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23950" y="242910"/>
            <a:ext cx="105927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74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FPGA Deployment (Inspection &amp; Quantization)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759" y="242910"/>
            <a:ext cx="53825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>
                <a:solidFill>
                  <a:srgbClr val="EEEEE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IV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918147" y="9134475"/>
            <a:ext cx="68230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3012" y="902634"/>
            <a:ext cx="9942655" cy="975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8"/>
              </a:lnSpc>
            </a:pPr>
            <a:r>
              <a:rPr lang="en-US" sz="5180">
                <a:solidFill>
                  <a:srgbClr val="2D4263"/>
                </a:solidFill>
                <a:latin typeface="Poppins Bold"/>
                <a:ea typeface="Poppins Bold"/>
                <a:cs typeface="Poppins Bold"/>
                <a:sym typeface="Poppins Bold"/>
              </a:rPr>
              <a:t>Inspection &amp; Quantization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23885" y="2018327"/>
            <a:ext cx="7488786" cy="8805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9407" indent="-294704" lvl="1">
              <a:lnSpc>
                <a:spcPts val="4368"/>
              </a:lnSpc>
              <a:buAutoNum type="arabicPeriod" startAt="1"/>
            </a:pPr>
            <a:r>
              <a:rPr lang="en-US" b="true" sz="2729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Inspection: </a:t>
            </a:r>
            <a:r>
              <a:rPr lang="en-US" sz="2729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check if model is quantizable in it’s current form</a:t>
            </a:r>
          </a:p>
          <a:p>
            <a:pPr algn="l" marL="589407" indent="-294704" lvl="1">
              <a:lnSpc>
                <a:spcPts val="4368"/>
              </a:lnSpc>
              <a:buAutoNum type="arabicPeriod" startAt="1"/>
            </a:pPr>
            <a:r>
              <a:rPr lang="en-US" b="true" sz="2729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Preparation:</a:t>
            </a:r>
          </a:p>
          <a:p>
            <a:pPr algn="l" marL="1178814" indent="-392938" lvl="2">
              <a:lnSpc>
                <a:spcPts val="4368"/>
              </a:lnSpc>
              <a:buAutoNum type="alphaLcPeriod" startAt="1"/>
            </a:pPr>
            <a:r>
              <a:rPr lang="en-US" sz="2729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Yolov5 default activation function changed</a:t>
            </a:r>
          </a:p>
          <a:p>
            <a:pPr algn="l" marL="1178814" indent="-392938" lvl="2">
              <a:lnSpc>
                <a:spcPts val="4368"/>
              </a:lnSpc>
              <a:buAutoNum type="alphaLcPeriod" startAt="1"/>
            </a:pPr>
            <a:r>
              <a:rPr lang="en-US" sz="2729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Permute and View functions in last layer of detection head  removed</a:t>
            </a:r>
          </a:p>
          <a:p>
            <a:pPr algn="l" marL="589407" indent="-294704" lvl="1">
              <a:lnSpc>
                <a:spcPts val="4368"/>
              </a:lnSpc>
              <a:buAutoNum type="arabicPeriod" startAt="1"/>
            </a:pPr>
            <a:r>
              <a:rPr lang="en-US" b="true" sz="2729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Quantization: </a:t>
            </a:r>
          </a:p>
          <a:p>
            <a:pPr algn="l" marL="1178814" indent="-392938" lvl="2">
              <a:lnSpc>
                <a:spcPts val="4368"/>
              </a:lnSpc>
              <a:buAutoNum type="alphaLcPeriod" startAt="1"/>
            </a:pPr>
            <a:r>
              <a:rPr lang="en-US" b="true" sz="2729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C</a:t>
            </a:r>
            <a:r>
              <a:rPr lang="en-US" sz="2729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onversion of weights and activations from Float32 to Int8</a:t>
            </a:r>
          </a:p>
          <a:p>
            <a:pPr algn="l" marL="1178814" indent="-392938" lvl="2">
              <a:lnSpc>
                <a:spcPts val="4368"/>
              </a:lnSpc>
              <a:buAutoNum type="alphaLcPeriod" startAt="1"/>
            </a:pPr>
            <a:r>
              <a:rPr lang="en-US" sz="2729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To reduce computational complexity</a:t>
            </a:r>
          </a:p>
          <a:p>
            <a:pPr algn="l" marL="1178814" indent="-392938" lvl="2">
              <a:lnSpc>
                <a:spcPts val="4368"/>
              </a:lnSpc>
              <a:buAutoNum type="alphaLcPeriod" startAt="1"/>
            </a:pPr>
            <a:r>
              <a:rPr lang="en-US" sz="2729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PTQ (Post Training Quantization) and QAT (Quantization Aware Training)</a:t>
            </a:r>
          </a:p>
          <a:p>
            <a:pPr algn="l">
              <a:lnSpc>
                <a:spcPts val="4368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847771"/>
            <a:chOff x="0" y="0"/>
            <a:chExt cx="6186311" cy="2867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286777"/>
            </a:xfrm>
            <a:custGeom>
              <a:avLst/>
              <a:gdLst/>
              <a:ahLst/>
              <a:cxnLst/>
              <a:rect r="r" b="b" t="t" l="l"/>
              <a:pathLst>
                <a:path h="286777" w="6186311">
                  <a:moveTo>
                    <a:pt x="0" y="0"/>
                  </a:moveTo>
                  <a:lnTo>
                    <a:pt x="6186311" y="0"/>
                  </a:lnTo>
                  <a:lnTo>
                    <a:pt x="6186311" y="286777"/>
                  </a:lnTo>
                  <a:lnTo>
                    <a:pt x="0" y="286777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847771" cy="847771"/>
            <a:chOff x="0" y="0"/>
            <a:chExt cx="1913890" cy="1913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C84B31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93012" y="2281511"/>
            <a:ext cx="8450988" cy="8005489"/>
          </a:xfrm>
          <a:custGeom>
            <a:avLst/>
            <a:gdLst/>
            <a:ahLst/>
            <a:cxnLst/>
            <a:rect r="r" b="b" t="t" l="l"/>
            <a:pathLst>
              <a:path h="8005489" w="8450988">
                <a:moveTo>
                  <a:pt x="0" y="0"/>
                </a:moveTo>
                <a:lnTo>
                  <a:pt x="8450988" y="0"/>
                </a:lnTo>
                <a:lnTo>
                  <a:pt x="8450988" y="8005489"/>
                </a:lnTo>
                <a:lnTo>
                  <a:pt x="0" y="80054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23950" y="242910"/>
            <a:ext cx="105927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74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Conclusion &amp; Future Plans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759" y="242910"/>
            <a:ext cx="53825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74">
                <a:solidFill>
                  <a:srgbClr val="EEEEE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93397" y="1299884"/>
            <a:ext cx="7261003" cy="650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499" b="true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Complete Deployment on FPGA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93397" y="1979334"/>
            <a:ext cx="7807056" cy="1664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4"/>
              </a:lnSpc>
            </a:pPr>
            <a:r>
              <a:rPr lang="en-US" sz="253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Using Vitis-AI and deployment software, complete implementation of the model on the FPGA hardware.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93397" y="4184878"/>
            <a:ext cx="536674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793397" y="5533049"/>
            <a:ext cx="7807056" cy="1664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3"/>
              </a:lnSpc>
            </a:pPr>
            <a:r>
              <a:rPr lang="en-US" sz="2529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Evaluate the deployed system for accuracy, FPS ,and resource utilization. Optimize and improve the system to achieve the best possible results.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93397" y="7740563"/>
            <a:ext cx="5366747" cy="650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499" b="true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Interface Development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93397" y="8381914"/>
            <a:ext cx="7465903" cy="1093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3"/>
              </a:lnSpc>
            </a:pPr>
            <a:r>
              <a:rPr lang="en-US" sz="2529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Design a user-friendly interface for system operation and defect analysis.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918147" y="9134475"/>
            <a:ext cx="68230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30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19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93397" y="4148748"/>
            <a:ext cx="7647053" cy="1355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499" b="true">
                <a:solidFill>
                  <a:srgbClr val="2D4263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Extensive Testing &amp; Optimization of Deployed Model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666388"/>
            <a:chOff x="0" y="0"/>
            <a:chExt cx="6186311" cy="25933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2593322"/>
            </a:xfrm>
            <a:custGeom>
              <a:avLst/>
              <a:gdLst/>
              <a:ahLst/>
              <a:cxnLst/>
              <a:rect r="r" b="b" t="t" l="l"/>
              <a:pathLst>
                <a:path h="2593322" w="6186311">
                  <a:moveTo>
                    <a:pt x="0" y="0"/>
                  </a:moveTo>
                  <a:lnTo>
                    <a:pt x="6186311" y="0"/>
                  </a:lnTo>
                  <a:lnTo>
                    <a:pt x="6186311" y="2593322"/>
                  </a:lnTo>
                  <a:lnTo>
                    <a:pt x="0" y="2593322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514630" y="1997423"/>
            <a:ext cx="6744670" cy="5668965"/>
          </a:xfrm>
          <a:custGeom>
            <a:avLst/>
            <a:gdLst/>
            <a:ahLst/>
            <a:cxnLst/>
            <a:rect r="r" b="b" t="t" l="l"/>
            <a:pathLst>
              <a:path h="5668965" w="6744670">
                <a:moveTo>
                  <a:pt x="0" y="0"/>
                </a:moveTo>
                <a:lnTo>
                  <a:pt x="6744670" y="0"/>
                </a:lnTo>
                <a:lnTo>
                  <a:pt x="6744670" y="5668965"/>
                </a:lnTo>
                <a:lnTo>
                  <a:pt x="0" y="5668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23950" y="3771900"/>
            <a:ext cx="10592755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 spc="279">
                <a:solidFill>
                  <a:srgbClr val="2D4263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3950" y="622935"/>
            <a:ext cx="290353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D426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DAGZWgCOzNo</dc:identifier>
  <dcterms:modified xsi:type="dcterms:W3CDTF">2011-08-01T06:04:30Z</dcterms:modified>
  <cp:revision>1</cp:revision>
  <dc:title>Red Blue Soft Grey Illustration Thesis Project Final Defense Presentation Template</dc:title>
</cp:coreProperties>
</file>